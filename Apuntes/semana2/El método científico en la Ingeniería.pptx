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33308dff1a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33308dff1a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33308dff1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33308dff1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33308dff1a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33308dff1a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El proceso investigativo es un procedimiento reflexivo, sistemático, controlado y crítico que tiene por finalidad descubrir o interpretar hechos o fenómenos, así como relaciones y leyes de un determinado ámbito de la realidad. En tal sentido, la investigación constituye en un camino para conocer, descubrir, indagar, negar o confirmar hechos reales; sin embargo, usualmente poseemos dudas sobre el paso a paso del proceso investigativo, refiriéndonos a dichas fases que permiten que la investigación tenga validez y confiabilidad científica.</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FASE EPISTEMOLÓGICA: El proceso investigativo inicia con la observación y descripción de la realidad, mismas que permiten identificar un problema de estudio y describirlo a través de las causas y consecuencias reconocidas. Contempla las siguientes actividades</a:t>
            </a:r>
            <a:endParaRPr/>
          </a:p>
          <a:p>
            <a:pPr indent="0" lvl="0" marL="0" rtl="0" algn="l">
              <a:spcBef>
                <a:spcPts val="0"/>
              </a:spcBef>
              <a:spcAft>
                <a:spcPts val="0"/>
              </a:spcAft>
              <a:buNone/>
            </a:pPr>
            <a:r>
              <a:rPr lang="es"/>
              <a:t>Descripción del problema</a:t>
            </a:r>
            <a:endParaRPr/>
          </a:p>
          <a:p>
            <a:pPr indent="0" lvl="0" marL="0" rtl="0" algn="l">
              <a:spcBef>
                <a:spcPts val="0"/>
              </a:spcBef>
              <a:spcAft>
                <a:spcPts val="0"/>
              </a:spcAft>
              <a:buNone/>
            </a:pPr>
            <a:r>
              <a:rPr lang="es"/>
              <a:t>Formulación y delimitación del problema</a:t>
            </a:r>
            <a:endParaRPr/>
          </a:p>
          <a:p>
            <a:pPr indent="0" lvl="0" marL="0" rtl="0" algn="l">
              <a:spcBef>
                <a:spcPts val="0"/>
              </a:spcBef>
              <a:spcAft>
                <a:spcPts val="0"/>
              </a:spcAft>
              <a:buNone/>
            </a:pPr>
            <a:r>
              <a:rPr lang="es"/>
              <a:t>Objetivos de la investigación</a:t>
            </a:r>
            <a:endParaRPr/>
          </a:p>
          <a:p>
            <a:pPr indent="0" lvl="0" marL="0" rtl="0" algn="l">
              <a:spcBef>
                <a:spcPts val="0"/>
              </a:spcBef>
              <a:spcAft>
                <a:spcPts val="0"/>
              </a:spcAft>
              <a:buNone/>
            </a:pPr>
            <a:r>
              <a:rPr lang="es"/>
              <a:t>Justificación y viabilidad</a:t>
            </a:r>
            <a:endParaRPr/>
          </a:p>
          <a:p>
            <a:pPr indent="0" lvl="0" marL="0" rtl="0" algn="l">
              <a:spcBef>
                <a:spcPts val="0"/>
              </a:spcBef>
              <a:spcAft>
                <a:spcPts val="0"/>
              </a:spcAft>
              <a:buNone/>
            </a:pPr>
            <a:r>
              <a:rPr lang="es"/>
              <a:t>2. FASE TEÓRICA: Es un proceso que inicia con un debate acerca de lo que ya se conoce del problema, aspectos que son necesarios conocer y resultados que se esperan encontrar al final del estudio. En esta fase se construye el marco teórico para proponer relaciones, comportamientos o hechos. Contempla las siguientes actividades:</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Descripción del contexto (Marco contextual)</a:t>
            </a:r>
            <a:endParaRPr/>
          </a:p>
          <a:p>
            <a:pPr indent="0" lvl="0" marL="0" rtl="0" algn="l">
              <a:spcBef>
                <a:spcPts val="0"/>
              </a:spcBef>
              <a:spcAft>
                <a:spcPts val="0"/>
              </a:spcAft>
              <a:buNone/>
            </a:pPr>
            <a:r>
              <a:rPr lang="es"/>
              <a:t>Revisión de la literatura relacionada (Marco de antecedentes)</a:t>
            </a:r>
            <a:endParaRPr/>
          </a:p>
          <a:p>
            <a:pPr indent="0" lvl="0" marL="0" rtl="0" algn="l">
              <a:spcBef>
                <a:spcPts val="0"/>
              </a:spcBef>
              <a:spcAft>
                <a:spcPts val="0"/>
              </a:spcAft>
              <a:buNone/>
            </a:pPr>
            <a:r>
              <a:rPr lang="es"/>
              <a:t>Construcción de la normativa (Marco legal)</a:t>
            </a:r>
            <a:endParaRPr/>
          </a:p>
          <a:p>
            <a:pPr indent="0" lvl="0" marL="0" rtl="0" algn="l">
              <a:spcBef>
                <a:spcPts val="0"/>
              </a:spcBef>
              <a:spcAft>
                <a:spcPts val="0"/>
              </a:spcAft>
              <a:buNone/>
            </a:pPr>
            <a:r>
              <a:rPr lang="es"/>
              <a:t>Desarrollo del Marco Teórico</a:t>
            </a:r>
            <a:endParaRPr/>
          </a:p>
          <a:p>
            <a:pPr indent="0" lvl="0" marL="0" rtl="0" algn="l">
              <a:spcBef>
                <a:spcPts val="0"/>
              </a:spcBef>
              <a:spcAft>
                <a:spcPts val="0"/>
              </a:spcAft>
              <a:buNone/>
            </a:pPr>
            <a:r>
              <a:rPr lang="es"/>
              <a:t>3. FASE METODOLÓGICA: Es un plan general que implica decidir qué método se va a emplear para resolver el problema y comprobar la hipótesis. Las actividades son:</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Selección del paradigma y método de investigación</a:t>
            </a:r>
            <a:endParaRPr/>
          </a:p>
          <a:p>
            <a:pPr indent="0" lvl="0" marL="0" rtl="0" algn="l">
              <a:spcBef>
                <a:spcPts val="0"/>
              </a:spcBef>
              <a:spcAft>
                <a:spcPts val="0"/>
              </a:spcAft>
              <a:buNone/>
            </a:pPr>
            <a:r>
              <a:rPr lang="es"/>
              <a:t>Identificación de la población que se estudiará</a:t>
            </a:r>
            <a:endParaRPr/>
          </a:p>
          <a:p>
            <a:pPr indent="0" lvl="0" marL="0" rtl="0" algn="l">
              <a:spcBef>
                <a:spcPts val="0"/>
              </a:spcBef>
              <a:spcAft>
                <a:spcPts val="0"/>
              </a:spcAft>
              <a:buNone/>
            </a:pPr>
            <a:r>
              <a:rPr lang="es"/>
              <a:t>Diseño de un plan de muestreo</a:t>
            </a:r>
            <a:endParaRPr/>
          </a:p>
          <a:p>
            <a:pPr indent="0" lvl="0" marL="0" rtl="0" algn="l">
              <a:spcBef>
                <a:spcPts val="0"/>
              </a:spcBef>
              <a:spcAft>
                <a:spcPts val="0"/>
              </a:spcAft>
              <a:buNone/>
            </a:pPr>
            <a:r>
              <a:rPr lang="es"/>
              <a:t>Selección, realización y validación de técnicas e instrumentos de recolección de datos</a:t>
            </a:r>
            <a:endParaRPr/>
          </a:p>
          <a:p>
            <a:pPr indent="0" lvl="0" marL="0" rtl="0" algn="l">
              <a:spcBef>
                <a:spcPts val="0"/>
              </a:spcBef>
              <a:spcAft>
                <a:spcPts val="0"/>
              </a:spcAft>
              <a:buNone/>
            </a:pPr>
            <a:r>
              <a:rPr lang="es"/>
              <a:t>4. FASE TÉCNICA: Es el momento de aplicar los instrumentos diseñados en la metodología. Contempla los siguientes pasos:</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Aplicación de los instrumentos de recolección de datos</a:t>
            </a:r>
            <a:endParaRPr/>
          </a:p>
          <a:p>
            <a:pPr indent="0" lvl="0" marL="0" rtl="0" algn="l">
              <a:spcBef>
                <a:spcPts val="0"/>
              </a:spcBef>
              <a:spcAft>
                <a:spcPts val="0"/>
              </a:spcAft>
              <a:buNone/>
            </a:pPr>
            <a:r>
              <a:rPr lang="es"/>
              <a:t>Organización de los datos para el análisis</a:t>
            </a:r>
            <a:endParaRPr/>
          </a:p>
          <a:p>
            <a:pPr indent="0" lvl="0" marL="0" rtl="0" algn="l">
              <a:spcBef>
                <a:spcPts val="0"/>
              </a:spcBef>
              <a:spcAft>
                <a:spcPts val="0"/>
              </a:spcAft>
              <a:buNone/>
            </a:pPr>
            <a:r>
              <a:rPr lang="es"/>
              <a:t>Análisis de información</a:t>
            </a:r>
            <a:endParaRPr/>
          </a:p>
          <a:p>
            <a:pPr indent="0" lvl="0" marL="0" rtl="0" algn="l">
              <a:spcBef>
                <a:spcPts val="0"/>
              </a:spcBef>
              <a:spcAft>
                <a:spcPts val="0"/>
              </a:spcAft>
              <a:buNone/>
            </a:pPr>
            <a:r>
              <a:rPr lang="es"/>
              <a:t>Interpretación de resultados</a:t>
            </a:r>
            <a:endParaRPr/>
          </a:p>
          <a:p>
            <a:pPr indent="0" lvl="0" marL="0" rtl="0" algn="l">
              <a:spcBef>
                <a:spcPts val="0"/>
              </a:spcBef>
              <a:spcAft>
                <a:spcPts val="0"/>
              </a:spcAft>
              <a:buNone/>
            </a:pPr>
            <a:r>
              <a:rPr lang="es"/>
              <a:t>Síntesis y discusión de resultados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33308dff1a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33308dff1a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33308dff1a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33308dff1a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33308dff1a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33308dff1a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33308dff1a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33308dff1a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33308dff1a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33308dff1a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33308dff1a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33308dff1a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no todos los diseños investigativos requieren de una hip</a:t>
            </a:r>
            <a:r>
              <a:rPr lang="es"/>
              <a:t>ótesis ni tampoco de experimentación</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33308dff1a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33308dff1a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85750" lvl="0" marL="457200" rtl="0" algn="l">
              <a:lnSpc>
                <a:spcPct val="115000"/>
              </a:lnSpc>
              <a:spcBef>
                <a:spcPts val="1200"/>
              </a:spcBef>
              <a:spcAft>
                <a:spcPts val="0"/>
              </a:spcAft>
              <a:buClr>
                <a:schemeClr val="dk1"/>
              </a:buClr>
              <a:buSzPts val="900"/>
              <a:buAutoNum type="arabicPeriod"/>
            </a:pPr>
            <a:r>
              <a:rPr b="1" lang="es" sz="900">
                <a:solidFill>
                  <a:schemeClr val="dk1"/>
                </a:solidFill>
              </a:rPr>
              <a:t>Identificación del problema</a:t>
            </a:r>
            <a:endParaRPr b="1" sz="900">
              <a:solidFill>
                <a:schemeClr val="dk1"/>
              </a:solidFill>
            </a:endParaRPr>
          </a:p>
          <a:p>
            <a:pPr indent="-285750" lvl="1" marL="914400" rtl="0" algn="l">
              <a:lnSpc>
                <a:spcPct val="115000"/>
              </a:lnSpc>
              <a:spcBef>
                <a:spcPts val="0"/>
              </a:spcBef>
              <a:spcAft>
                <a:spcPts val="0"/>
              </a:spcAft>
              <a:buClr>
                <a:schemeClr val="dk1"/>
              </a:buClr>
              <a:buSzPts val="900"/>
              <a:buChar char="○"/>
            </a:pPr>
            <a:r>
              <a:rPr lang="es" sz="900">
                <a:solidFill>
                  <a:schemeClr val="dk1"/>
                </a:solidFill>
              </a:rPr>
              <a:t>Se detecta una necesidad o problema en la sociedad o la industria.</a:t>
            </a:r>
            <a:endParaRPr sz="900">
              <a:solidFill>
                <a:schemeClr val="dk1"/>
              </a:solidFill>
            </a:endParaRPr>
          </a:p>
          <a:p>
            <a:pPr indent="-285750" lvl="0" marL="457200" rtl="0" algn="l">
              <a:lnSpc>
                <a:spcPct val="115000"/>
              </a:lnSpc>
              <a:spcBef>
                <a:spcPts val="0"/>
              </a:spcBef>
              <a:spcAft>
                <a:spcPts val="0"/>
              </a:spcAft>
              <a:buClr>
                <a:schemeClr val="dk1"/>
              </a:buClr>
              <a:buSzPts val="900"/>
              <a:buAutoNum type="arabicPeriod"/>
            </a:pPr>
            <a:r>
              <a:rPr b="1" lang="es" sz="900">
                <a:solidFill>
                  <a:schemeClr val="dk1"/>
                </a:solidFill>
              </a:rPr>
              <a:t>Búsqueda de información y análisis</a:t>
            </a:r>
            <a:endParaRPr b="1" sz="900">
              <a:solidFill>
                <a:schemeClr val="dk1"/>
              </a:solidFill>
            </a:endParaRPr>
          </a:p>
          <a:p>
            <a:pPr indent="-285750" lvl="1" marL="914400" rtl="0" algn="l">
              <a:lnSpc>
                <a:spcPct val="115000"/>
              </a:lnSpc>
              <a:spcBef>
                <a:spcPts val="0"/>
              </a:spcBef>
              <a:spcAft>
                <a:spcPts val="0"/>
              </a:spcAft>
              <a:buClr>
                <a:schemeClr val="dk1"/>
              </a:buClr>
              <a:buSzPts val="900"/>
              <a:buChar char="○"/>
            </a:pPr>
            <a:r>
              <a:rPr lang="es" sz="900">
                <a:solidFill>
                  <a:schemeClr val="dk1"/>
                </a:solidFill>
              </a:rPr>
              <a:t>Se investigan soluciones existentes y avances tecnológicos previos.</a:t>
            </a:r>
            <a:endParaRPr sz="900">
              <a:solidFill>
                <a:schemeClr val="dk1"/>
              </a:solidFill>
            </a:endParaRPr>
          </a:p>
          <a:p>
            <a:pPr indent="-285750" lvl="0" marL="457200" rtl="0" algn="l">
              <a:lnSpc>
                <a:spcPct val="115000"/>
              </a:lnSpc>
              <a:spcBef>
                <a:spcPts val="0"/>
              </a:spcBef>
              <a:spcAft>
                <a:spcPts val="0"/>
              </a:spcAft>
              <a:buClr>
                <a:schemeClr val="dk1"/>
              </a:buClr>
              <a:buSzPts val="900"/>
              <a:buAutoNum type="arabicPeriod"/>
            </a:pPr>
            <a:r>
              <a:rPr b="1" lang="es" sz="900">
                <a:solidFill>
                  <a:schemeClr val="dk1"/>
                </a:solidFill>
              </a:rPr>
              <a:t>Diseño y planificación de la solución</a:t>
            </a:r>
            <a:endParaRPr b="1" sz="900">
              <a:solidFill>
                <a:schemeClr val="dk1"/>
              </a:solidFill>
            </a:endParaRPr>
          </a:p>
          <a:p>
            <a:pPr indent="-285750" lvl="1" marL="914400" rtl="0" algn="l">
              <a:lnSpc>
                <a:spcPct val="115000"/>
              </a:lnSpc>
              <a:spcBef>
                <a:spcPts val="0"/>
              </a:spcBef>
              <a:spcAft>
                <a:spcPts val="0"/>
              </a:spcAft>
              <a:buClr>
                <a:schemeClr val="dk1"/>
              </a:buClr>
              <a:buSzPts val="900"/>
              <a:buChar char="○"/>
            </a:pPr>
            <a:r>
              <a:rPr lang="es" sz="900">
                <a:solidFill>
                  <a:schemeClr val="dk1"/>
                </a:solidFill>
              </a:rPr>
              <a:t>Se proponen diferentes alternativas y se selecciona la mejor.</a:t>
            </a:r>
            <a:endParaRPr sz="900">
              <a:solidFill>
                <a:schemeClr val="dk1"/>
              </a:solidFill>
            </a:endParaRPr>
          </a:p>
          <a:p>
            <a:pPr indent="-285750" lvl="0" marL="457200" rtl="0" algn="l">
              <a:lnSpc>
                <a:spcPct val="115000"/>
              </a:lnSpc>
              <a:spcBef>
                <a:spcPts val="0"/>
              </a:spcBef>
              <a:spcAft>
                <a:spcPts val="0"/>
              </a:spcAft>
              <a:buClr>
                <a:schemeClr val="dk1"/>
              </a:buClr>
              <a:buSzPts val="900"/>
              <a:buAutoNum type="arabicPeriod"/>
            </a:pPr>
            <a:r>
              <a:rPr b="1" lang="es" sz="900">
                <a:solidFill>
                  <a:schemeClr val="dk1"/>
                </a:solidFill>
              </a:rPr>
              <a:t>Construcción o implementación del prototipo</a:t>
            </a:r>
            <a:endParaRPr b="1" sz="900">
              <a:solidFill>
                <a:schemeClr val="dk1"/>
              </a:solidFill>
            </a:endParaRPr>
          </a:p>
          <a:p>
            <a:pPr indent="-285750" lvl="1" marL="914400" rtl="0" algn="l">
              <a:lnSpc>
                <a:spcPct val="115000"/>
              </a:lnSpc>
              <a:spcBef>
                <a:spcPts val="0"/>
              </a:spcBef>
              <a:spcAft>
                <a:spcPts val="0"/>
              </a:spcAft>
              <a:buClr>
                <a:schemeClr val="dk1"/>
              </a:buClr>
              <a:buSzPts val="900"/>
              <a:buChar char="○"/>
            </a:pPr>
            <a:r>
              <a:rPr lang="es" sz="900">
                <a:solidFill>
                  <a:schemeClr val="dk1"/>
                </a:solidFill>
              </a:rPr>
              <a:t>Se desarrolla un modelo funcional o prototipo físico/software.</a:t>
            </a:r>
            <a:endParaRPr sz="900">
              <a:solidFill>
                <a:schemeClr val="dk1"/>
              </a:solidFill>
            </a:endParaRPr>
          </a:p>
          <a:p>
            <a:pPr indent="-285750" lvl="0" marL="457200" rtl="0" algn="l">
              <a:lnSpc>
                <a:spcPct val="115000"/>
              </a:lnSpc>
              <a:spcBef>
                <a:spcPts val="0"/>
              </a:spcBef>
              <a:spcAft>
                <a:spcPts val="0"/>
              </a:spcAft>
              <a:buClr>
                <a:schemeClr val="dk1"/>
              </a:buClr>
              <a:buSzPts val="900"/>
              <a:buAutoNum type="arabicPeriod"/>
            </a:pPr>
            <a:r>
              <a:rPr b="1" lang="es" sz="900">
                <a:solidFill>
                  <a:schemeClr val="dk1"/>
                </a:solidFill>
              </a:rPr>
              <a:t>Evaluación y pruebas</a:t>
            </a:r>
            <a:endParaRPr b="1" sz="900">
              <a:solidFill>
                <a:schemeClr val="dk1"/>
              </a:solidFill>
            </a:endParaRPr>
          </a:p>
          <a:p>
            <a:pPr indent="-285750" lvl="1" marL="914400" rtl="0" algn="l">
              <a:lnSpc>
                <a:spcPct val="115000"/>
              </a:lnSpc>
              <a:spcBef>
                <a:spcPts val="0"/>
              </a:spcBef>
              <a:spcAft>
                <a:spcPts val="0"/>
              </a:spcAft>
              <a:buClr>
                <a:schemeClr val="dk1"/>
              </a:buClr>
              <a:buSzPts val="900"/>
              <a:buChar char="○"/>
            </a:pPr>
            <a:r>
              <a:rPr lang="es" sz="900">
                <a:solidFill>
                  <a:schemeClr val="dk1"/>
                </a:solidFill>
              </a:rPr>
              <a:t>Se realizan pruebas de calidad, resistencia y desempeño.</a:t>
            </a:r>
            <a:endParaRPr sz="900">
              <a:solidFill>
                <a:schemeClr val="dk1"/>
              </a:solidFill>
            </a:endParaRPr>
          </a:p>
          <a:p>
            <a:pPr indent="-285750" lvl="0" marL="457200" rtl="0" algn="l">
              <a:lnSpc>
                <a:spcPct val="115000"/>
              </a:lnSpc>
              <a:spcBef>
                <a:spcPts val="0"/>
              </a:spcBef>
              <a:spcAft>
                <a:spcPts val="0"/>
              </a:spcAft>
              <a:buClr>
                <a:schemeClr val="dk1"/>
              </a:buClr>
              <a:buSzPts val="900"/>
              <a:buAutoNum type="arabicPeriod"/>
            </a:pPr>
            <a:r>
              <a:rPr b="1" lang="es" sz="900">
                <a:solidFill>
                  <a:schemeClr val="dk1"/>
                </a:solidFill>
              </a:rPr>
              <a:t>Optimización y mejoras</a:t>
            </a:r>
            <a:endParaRPr b="1" sz="900">
              <a:solidFill>
                <a:schemeClr val="dk1"/>
              </a:solidFill>
            </a:endParaRPr>
          </a:p>
          <a:p>
            <a:pPr indent="-285750" lvl="1" marL="914400" rtl="0" algn="l">
              <a:lnSpc>
                <a:spcPct val="115000"/>
              </a:lnSpc>
              <a:spcBef>
                <a:spcPts val="0"/>
              </a:spcBef>
              <a:spcAft>
                <a:spcPts val="0"/>
              </a:spcAft>
              <a:buClr>
                <a:schemeClr val="dk1"/>
              </a:buClr>
              <a:buSzPts val="900"/>
              <a:buChar char="○"/>
            </a:pPr>
            <a:r>
              <a:rPr lang="es" sz="900">
                <a:solidFill>
                  <a:schemeClr val="dk1"/>
                </a:solidFill>
              </a:rPr>
              <a:t>Se ajusta el diseño para mejorar eficiencia y reducir costos.</a:t>
            </a:r>
            <a:endParaRPr sz="900">
              <a:solidFill>
                <a:schemeClr val="dk1"/>
              </a:solidFill>
            </a:endParaRPr>
          </a:p>
          <a:p>
            <a:pPr indent="-285750" lvl="0" marL="457200" rtl="0" algn="l">
              <a:lnSpc>
                <a:spcPct val="115000"/>
              </a:lnSpc>
              <a:spcBef>
                <a:spcPts val="0"/>
              </a:spcBef>
              <a:spcAft>
                <a:spcPts val="0"/>
              </a:spcAft>
              <a:buClr>
                <a:schemeClr val="dk1"/>
              </a:buClr>
              <a:buSzPts val="900"/>
              <a:buAutoNum type="arabicPeriod"/>
            </a:pPr>
            <a:r>
              <a:rPr b="1" lang="es" sz="900">
                <a:solidFill>
                  <a:schemeClr val="dk1"/>
                </a:solidFill>
              </a:rPr>
              <a:t>Producción y distribución</a:t>
            </a:r>
            <a:endParaRPr b="1" sz="900">
              <a:solidFill>
                <a:schemeClr val="dk1"/>
              </a:solidFill>
            </a:endParaRPr>
          </a:p>
          <a:p>
            <a:pPr indent="-285750" lvl="1" marL="914400" rtl="0" algn="l">
              <a:lnSpc>
                <a:spcPct val="115000"/>
              </a:lnSpc>
              <a:spcBef>
                <a:spcPts val="0"/>
              </a:spcBef>
              <a:spcAft>
                <a:spcPts val="0"/>
              </a:spcAft>
              <a:buClr>
                <a:schemeClr val="dk1"/>
              </a:buClr>
              <a:buSzPts val="900"/>
              <a:buChar char="○"/>
            </a:pPr>
            <a:r>
              <a:rPr lang="es" sz="900">
                <a:solidFill>
                  <a:schemeClr val="dk1"/>
                </a:solidFill>
              </a:rPr>
              <a:t>Se lleva el producto a una fase de producción en serie.</a:t>
            </a:r>
            <a:endParaRPr sz="900">
              <a:solidFill>
                <a:schemeClr val="dk1"/>
              </a:solidFill>
            </a:endParaRPr>
          </a:p>
          <a:p>
            <a:pPr indent="-285750" lvl="0" marL="457200" rtl="0" algn="l">
              <a:lnSpc>
                <a:spcPct val="115000"/>
              </a:lnSpc>
              <a:spcBef>
                <a:spcPts val="0"/>
              </a:spcBef>
              <a:spcAft>
                <a:spcPts val="0"/>
              </a:spcAft>
              <a:buClr>
                <a:schemeClr val="dk1"/>
              </a:buClr>
              <a:buSzPts val="900"/>
              <a:buAutoNum type="arabicPeriod"/>
            </a:pPr>
            <a:r>
              <a:rPr b="1" lang="es" sz="900">
                <a:solidFill>
                  <a:schemeClr val="dk1"/>
                </a:solidFill>
              </a:rPr>
              <a:t>Mantenimiento y evolución tecnológica</a:t>
            </a:r>
            <a:endParaRPr sz="900">
              <a:solidFill>
                <a:schemeClr val="dk1"/>
              </a:solidFill>
            </a:endParaRPr>
          </a:p>
          <a:p>
            <a:pPr indent="-285750" lvl="1" marL="914400" rtl="0" algn="l">
              <a:lnSpc>
                <a:spcPct val="115000"/>
              </a:lnSpc>
              <a:spcBef>
                <a:spcPts val="0"/>
              </a:spcBef>
              <a:spcAft>
                <a:spcPts val="0"/>
              </a:spcAft>
              <a:buClr>
                <a:schemeClr val="dk1"/>
              </a:buClr>
              <a:buSzPts val="900"/>
              <a:buChar char="○"/>
            </a:pPr>
            <a:r>
              <a:rPr lang="es" sz="900">
                <a:solidFill>
                  <a:schemeClr val="dk1"/>
                </a:solidFill>
              </a:rPr>
              <a:t>Se monitorea el desempeño del producto en el mercado.</a:t>
            </a:r>
            <a:endParaRPr sz="90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33308dff1a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33308dff1a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33308dff1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33308dff1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La idea</a:t>
            </a:r>
            <a:endParaRPr/>
          </a:p>
          <a:p>
            <a:pPr indent="0" lvl="0" marL="0" rtl="0" algn="l">
              <a:spcBef>
                <a:spcPts val="0"/>
              </a:spcBef>
              <a:spcAft>
                <a:spcPts val="0"/>
              </a:spcAft>
              <a:buClr>
                <a:schemeClr val="dk1"/>
              </a:buClr>
              <a:buSzPts val="1100"/>
              <a:buFont typeface="Arial"/>
              <a:buNone/>
            </a:pPr>
            <a:r>
              <a:rPr lang="es"/>
              <a:t>Nace un proyecto de investigación.</a:t>
            </a:r>
            <a:endParaRPr/>
          </a:p>
          <a:p>
            <a:pPr indent="0" lvl="0" marL="0" rtl="0" algn="l">
              <a:spcBef>
                <a:spcPts val="0"/>
              </a:spcBef>
              <a:spcAft>
                <a:spcPts val="0"/>
              </a:spcAft>
              <a:buClr>
                <a:schemeClr val="dk1"/>
              </a:buClr>
              <a:buSzPts val="1100"/>
              <a:buFont typeface="Arial"/>
              <a:buNone/>
            </a:pPr>
            <a:r>
              <a:rPr lang="es"/>
              <a:t>Las investigaciones se originan en ideas. Las ideas constituyen el primer acercamiento a la realidad que habrá</a:t>
            </a:r>
            <a:endParaRPr/>
          </a:p>
          <a:p>
            <a:pPr indent="0" lvl="0" marL="0" rtl="0" algn="l">
              <a:spcBef>
                <a:spcPts val="0"/>
              </a:spcBef>
              <a:spcAft>
                <a:spcPts val="0"/>
              </a:spcAft>
              <a:buClr>
                <a:schemeClr val="dk1"/>
              </a:buClr>
              <a:buSzPts val="1100"/>
              <a:buFont typeface="Arial"/>
              <a:buNone/>
            </a:pPr>
            <a:r>
              <a:rPr lang="es"/>
              <a:t>de investigarse.</a:t>
            </a:r>
            <a:endParaRPr/>
          </a:p>
          <a:p>
            <a:pPr indent="0" lvl="0" marL="0" rtl="0" algn="l">
              <a:spcBef>
                <a:spcPts val="0"/>
              </a:spcBef>
              <a:spcAft>
                <a:spcPts val="0"/>
              </a:spcAft>
              <a:buClr>
                <a:schemeClr val="dk1"/>
              </a:buClr>
              <a:buSzPts val="1100"/>
              <a:buFont typeface="Arial"/>
              <a:buNone/>
            </a:pPr>
            <a:r>
              <a:rPr lang="es"/>
              <a:t>0.0.1 Vaguedad de las ideas iniciales</a:t>
            </a:r>
            <a:endParaRPr/>
          </a:p>
          <a:p>
            <a:pPr indent="0" lvl="0" marL="0" rtl="0" algn="l">
              <a:spcBef>
                <a:spcPts val="0"/>
              </a:spcBef>
              <a:spcAft>
                <a:spcPts val="0"/>
              </a:spcAft>
              <a:buClr>
                <a:schemeClr val="dk1"/>
              </a:buClr>
              <a:buSzPts val="1100"/>
              <a:buFont typeface="Arial"/>
              <a:buNone/>
            </a:pPr>
            <a:r>
              <a:rPr lang="es"/>
              <a:t>La gran mayoría de las ideas iniciales son vagas y requieren un análisis para ser transformadas en</a:t>
            </a:r>
            <a:endParaRPr/>
          </a:p>
          <a:p>
            <a:pPr indent="0" lvl="0" marL="0" rtl="0" algn="l">
              <a:spcBef>
                <a:spcPts val="0"/>
              </a:spcBef>
              <a:spcAft>
                <a:spcPts val="0"/>
              </a:spcAft>
              <a:buClr>
                <a:schemeClr val="dk1"/>
              </a:buClr>
              <a:buSzPts val="1100"/>
              <a:buFont typeface="Arial"/>
              <a:buNone/>
            </a:pPr>
            <a:r>
              <a:rPr lang="es"/>
              <a:t>planteamientos precisos y estructurados. Para precisar y estructurar las ideas iniciales hay necesidad de</a:t>
            </a:r>
            <a:endParaRPr/>
          </a:p>
          <a:p>
            <a:pPr indent="0" lvl="0" marL="0" rtl="0" algn="l">
              <a:spcBef>
                <a:spcPts val="0"/>
              </a:spcBef>
              <a:spcAft>
                <a:spcPts val="0"/>
              </a:spcAft>
              <a:buClr>
                <a:schemeClr val="dk1"/>
              </a:buClr>
              <a:buSzPts val="1100"/>
              <a:buFont typeface="Arial"/>
              <a:buNone/>
            </a:pPr>
            <a:r>
              <a:rPr lang="es"/>
              <a:t>familiarizarse con el campo de conocimiento a que atañe la idea original. Esta familiarización conlleva a una</a:t>
            </a:r>
            <a:endParaRPr/>
          </a:p>
          <a:p>
            <a:pPr indent="0" lvl="0" marL="0" rtl="0" algn="l">
              <a:spcBef>
                <a:spcPts val="0"/>
              </a:spcBef>
              <a:spcAft>
                <a:spcPts val="0"/>
              </a:spcAft>
              <a:buClr>
                <a:schemeClr val="dk1"/>
              </a:buClr>
              <a:buSzPts val="1100"/>
              <a:buFont typeface="Arial"/>
              <a:buNone/>
            </a:pPr>
            <a:r>
              <a:rPr lang="es"/>
              <a:t>primera delimitación del alcance del proyecto de investigación.</a:t>
            </a:r>
            <a:endParaRPr/>
          </a:p>
          <a:p>
            <a:pPr indent="0" lvl="0" marL="0" rtl="0" algn="l">
              <a:spcBef>
                <a:spcPts val="0"/>
              </a:spcBef>
              <a:spcAft>
                <a:spcPts val="0"/>
              </a:spcAft>
              <a:buClr>
                <a:schemeClr val="dk1"/>
              </a:buClr>
              <a:buSzPts val="1100"/>
              <a:buFont typeface="Arial"/>
              <a:buNone/>
            </a:pPr>
            <a:r>
              <a:rPr lang="es"/>
              <a:t>0.0.2 Necesidad de conocer los antecedentes</a:t>
            </a:r>
            <a:endParaRPr/>
          </a:p>
          <a:p>
            <a:pPr indent="0" lvl="0" marL="0" rtl="0" algn="l">
              <a:spcBef>
                <a:spcPts val="0"/>
              </a:spcBef>
              <a:spcAft>
                <a:spcPts val="0"/>
              </a:spcAft>
              <a:buClr>
                <a:schemeClr val="dk1"/>
              </a:buClr>
              <a:buSzPts val="1100"/>
              <a:buFont typeface="Arial"/>
              <a:buNone/>
            </a:pPr>
            <a:r>
              <a:rPr lang="es"/>
              <a:t>Al familiarizarse con el campo de estudio es también necesario conocer los trabajos anteriores sobre el tema</a:t>
            </a:r>
            <a:endParaRPr/>
          </a:p>
          <a:p>
            <a:pPr indent="0" lvl="0" marL="0" rtl="0" algn="l">
              <a:spcBef>
                <a:spcPts val="0"/>
              </a:spcBef>
              <a:spcAft>
                <a:spcPts val="0"/>
              </a:spcAft>
              <a:buClr>
                <a:schemeClr val="dk1"/>
              </a:buClr>
              <a:buSzPts val="1100"/>
              <a:buFont typeface="Arial"/>
              <a:buNone/>
            </a:pPr>
            <a:r>
              <a:rPr lang="es"/>
              <a:t>de interés, esto ayuda a:</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No investigar sobre algún tema que ya se haya investigado muy a fondo. Una investigación debe ser</a:t>
            </a:r>
            <a:endParaRPr/>
          </a:p>
          <a:p>
            <a:pPr indent="0" lvl="0" marL="0" rtl="0" algn="l">
              <a:spcBef>
                <a:spcPts val="0"/>
              </a:spcBef>
              <a:spcAft>
                <a:spcPts val="0"/>
              </a:spcAft>
              <a:buClr>
                <a:schemeClr val="dk1"/>
              </a:buClr>
              <a:buSzPts val="1100"/>
              <a:buFont typeface="Arial"/>
              <a:buNone/>
            </a:pPr>
            <a:r>
              <a:rPr lang="es"/>
              <a:t>novedosa.</a:t>
            </a:r>
            <a:endParaRPr/>
          </a:p>
          <a:p>
            <a:pPr indent="0" lvl="0" marL="0" rtl="0" algn="l">
              <a:spcBef>
                <a:spcPts val="0"/>
              </a:spcBef>
              <a:spcAft>
                <a:spcPts val="0"/>
              </a:spcAft>
              <a:buClr>
                <a:schemeClr val="dk1"/>
              </a:buClr>
              <a:buSzPts val="1100"/>
              <a:buFont typeface="Arial"/>
              <a:buNone/>
            </a:pPr>
            <a:r>
              <a:rPr lang="es"/>
              <a:t>Si el tema ya está muy estudiado, se puede aún en ocasiones introducir un enfoque innovador.</a:t>
            </a:r>
            <a:endParaRPr/>
          </a:p>
          <a:p>
            <a:pPr indent="0" lvl="0" marL="0" rtl="0" algn="l">
              <a:spcBef>
                <a:spcPts val="0"/>
              </a:spcBef>
              <a:spcAft>
                <a:spcPts val="0"/>
              </a:spcAft>
              <a:buClr>
                <a:schemeClr val="dk1"/>
              </a:buClr>
              <a:buSzPts val="1100"/>
              <a:buFont typeface="Arial"/>
              <a:buNone/>
            </a:pPr>
            <a:r>
              <a:rPr lang="es"/>
              <a:t>Estructurar más formalmente la idea, o bien, delimitarla.</a:t>
            </a:r>
            <a:endParaRPr/>
          </a:p>
          <a:p>
            <a:pPr indent="0" lvl="0" marL="0" rtl="0" algn="l">
              <a:spcBef>
                <a:spcPts val="0"/>
              </a:spcBef>
              <a:spcAft>
                <a:spcPts val="0"/>
              </a:spcAft>
              <a:buClr>
                <a:schemeClr val="dk1"/>
              </a:buClr>
              <a:buSzPts val="1100"/>
              <a:buFont typeface="Arial"/>
              <a:buNone/>
            </a:pPr>
            <a:r>
              <a:rPr lang="es"/>
              <a:t>Seleccionar el enfoque, o corriente teórica o metodológica desde la cual se abordará la idea.</a:t>
            </a:r>
            <a:endParaRPr/>
          </a:p>
          <a:p>
            <a:pPr indent="0" lvl="0" marL="0" rtl="0" algn="l">
              <a:spcBef>
                <a:spcPts val="0"/>
              </a:spcBef>
              <a:spcAft>
                <a:spcPts val="0"/>
              </a:spcAft>
              <a:buClr>
                <a:schemeClr val="dk1"/>
              </a:buClr>
              <a:buSzPts val="1100"/>
              <a:buFont typeface="Arial"/>
              <a:buNone/>
            </a:pPr>
            <a:r>
              <a:rPr lang="es"/>
              <a:t>Evidentemente, cuanto más se conozca un tema, será más fácil y más rápido afinar la idea.</a:t>
            </a:r>
            <a:endParaRPr/>
          </a:p>
          <a:p>
            <a:pPr indent="0" lvl="0" marL="0" rtl="0" algn="l">
              <a:spcBef>
                <a:spcPts val="0"/>
              </a:spcBef>
              <a:spcAft>
                <a:spcPts val="0"/>
              </a:spcAft>
              <a:buClr>
                <a:schemeClr val="dk1"/>
              </a:buClr>
              <a:buSzPts val="1100"/>
              <a:buFont typeface="Arial"/>
              <a:buNone/>
            </a:pPr>
            <a:r>
              <a:rPr lang="es"/>
              <a:t>En campos muy estudiados el conocimiento se encuentra más estructurado y en estos casos se requieren</a:t>
            </a:r>
            <a:endParaRPr/>
          </a:p>
          <a:p>
            <a:pPr indent="0" lvl="0" marL="0" rtl="0" algn="l">
              <a:spcBef>
                <a:spcPts val="0"/>
              </a:spcBef>
              <a:spcAft>
                <a:spcPts val="0"/>
              </a:spcAft>
              <a:buClr>
                <a:schemeClr val="dk1"/>
              </a:buClr>
              <a:buSzPts val="1100"/>
              <a:buFont typeface="Arial"/>
              <a:buNone/>
            </a:pPr>
            <a:r>
              <a:rPr lang="es"/>
              <a:t>planteamientos más específicos.</a:t>
            </a:r>
            <a:endParaRPr/>
          </a:p>
          <a:p>
            <a:pPr indent="0" lvl="0" marL="0" rtl="0" algn="l">
              <a:spcBef>
                <a:spcPts val="0"/>
              </a:spcBef>
              <a:spcAft>
                <a:spcPts val="0"/>
              </a:spcAft>
              <a:buClr>
                <a:schemeClr val="dk1"/>
              </a:buClr>
              <a:buSzPts val="1100"/>
              <a:buFont typeface="Arial"/>
              <a:buNone/>
            </a:pPr>
            <a:r>
              <a:rPr lang="es"/>
              <a:t>Sin embargo, en todo campo siempre existen: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Temas ya investigados, estructurados y formalizados.</a:t>
            </a:r>
            <a:endParaRPr/>
          </a:p>
          <a:p>
            <a:pPr indent="0" lvl="0" marL="0" rtl="0" algn="l">
              <a:spcBef>
                <a:spcPts val="0"/>
              </a:spcBef>
              <a:spcAft>
                <a:spcPts val="0"/>
              </a:spcAft>
              <a:buClr>
                <a:schemeClr val="dk1"/>
              </a:buClr>
              <a:buSzPts val="1100"/>
              <a:buFont typeface="Arial"/>
              <a:buNone/>
            </a:pPr>
            <a:r>
              <a:rPr lang="es"/>
              <a:t>Temas ya investigados pero poco estructurados y formalizados.</a:t>
            </a:r>
            <a:endParaRPr/>
          </a:p>
          <a:p>
            <a:pPr indent="0" lvl="0" marL="0" rtl="0" algn="l">
              <a:spcBef>
                <a:spcPts val="0"/>
              </a:spcBef>
              <a:spcAft>
                <a:spcPts val="0"/>
              </a:spcAft>
              <a:buClr>
                <a:schemeClr val="dk1"/>
              </a:buClr>
              <a:buSzPts val="1100"/>
              <a:buFont typeface="Arial"/>
              <a:buNone/>
            </a:pPr>
            <a:r>
              <a:rPr lang="es"/>
              <a:t>Temas poco investigados y poco estructurados. Temas no investigados.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0.1 Criterios para generar ideas</a:t>
            </a:r>
            <a:endParaRPr/>
          </a:p>
          <a:p>
            <a:pPr indent="0" lvl="0" marL="0" rtl="0" algn="l">
              <a:spcBef>
                <a:spcPts val="0"/>
              </a:spcBef>
              <a:spcAft>
                <a:spcPts val="0"/>
              </a:spcAft>
              <a:buClr>
                <a:schemeClr val="dk1"/>
              </a:buClr>
              <a:buSzPts val="1100"/>
              <a:buFont typeface="Arial"/>
              <a:buNone/>
            </a:pPr>
            <a:r>
              <a:rPr lang="es"/>
              <a:t>Algunos criterios que inventores famosos han sugerido para generar ideas de investigación, son: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Las buenas ideas intrigan, alientan y apasionan al investigador.</a:t>
            </a:r>
            <a:endParaRPr/>
          </a:p>
          <a:p>
            <a:pPr indent="0" lvl="0" marL="0" rtl="0" algn="l">
              <a:spcBef>
                <a:spcPts val="0"/>
              </a:spcBef>
              <a:spcAft>
                <a:spcPts val="0"/>
              </a:spcAft>
              <a:buClr>
                <a:schemeClr val="dk1"/>
              </a:buClr>
              <a:buSzPts val="1100"/>
              <a:buFont typeface="Arial"/>
              <a:buNone/>
            </a:pPr>
            <a:r>
              <a:rPr lang="es"/>
              <a:t>Las buenas ideas no son siempre nuevas, pero sí novedosas.</a:t>
            </a:r>
            <a:endParaRPr/>
          </a:p>
          <a:p>
            <a:pPr indent="0" lvl="0" marL="0" rtl="0" algn="l">
              <a:spcBef>
                <a:spcPts val="0"/>
              </a:spcBef>
              <a:spcAft>
                <a:spcPts val="0"/>
              </a:spcAft>
              <a:buClr>
                <a:schemeClr val="dk1"/>
              </a:buClr>
              <a:buSzPts val="1100"/>
              <a:buFont typeface="Arial"/>
              <a:buNone/>
            </a:pPr>
            <a:r>
              <a:rPr lang="es"/>
              <a:t>Las buenas ideas son útiles (pueden conducir a elaborar teorías o bien, a resolver problemas).</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33308dff1a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33308dff1a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33308dff1a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33308dff1a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0.4 ¿Qué es el problema de investigación?</a:t>
            </a:r>
            <a:endParaRPr/>
          </a:p>
          <a:p>
            <a:pPr indent="0" lvl="0" marL="0" rtl="0" algn="l">
              <a:spcBef>
                <a:spcPts val="0"/>
              </a:spcBef>
              <a:spcAft>
                <a:spcPts val="0"/>
              </a:spcAft>
              <a:buClr>
                <a:schemeClr val="dk1"/>
              </a:buClr>
              <a:buSzPts val="1100"/>
              <a:buFont typeface="Arial"/>
              <a:buNone/>
            </a:pPr>
            <a:r>
              <a:rPr lang="es"/>
              <a:t>En un sentido general, un problema es una pregunta que establece una situación que requiere discusión,</a:t>
            </a:r>
            <a:endParaRPr/>
          </a:p>
          <a:p>
            <a:pPr indent="0" lvl="0" marL="0" rtl="0" algn="l">
              <a:spcBef>
                <a:spcPts val="0"/>
              </a:spcBef>
              <a:spcAft>
                <a:spcPts val="0"/>
              </a:spcAft>
              <a:buClr>
                <a:schemeClr val="dk1"/>
              </a:buClr>
              <a:buSzPts val="1100"/>
              <a:buFont typeface="Arial"/>
              <a:buNone/>
            </a:pPr>
            <a:r>
              <a:rPr lang="es"/>
              <a:t>investigación, o una solución. Aunque esta definición global acarrea un significado que la mayoría de</a:t>
            </a:r>
            <a:endParaRPr/>
          </a:p>
          <a:p>
            <a:pPr indent="0" lvl="0" marL="0" rtl="0" algn="l">
              <a:spcBef>
                <a:spcPts val="0"/>
              </a:spcBef>
              <a:spcAft>
                <a:spcPts val="0"/>
              </a:spcAft>
              <a:buClr>
                <a:schemeClr val="dk1"/>
              </a:buClr>
              <a:buSzPts val="1100"/>
              <a:buFont typeface="Arial"/>
              <a:buNone/>
            </a:pPr>
            <a:r>
              <a:rPr lang="es"/>
              <a:t>nosotros logra entender, resulta insatisfactoria para propósitos científicos, pues no está lo suficientemente</a:t>
            </a:r>
            <a:endParaRPr/>
          </a:p>
          <a:p>
            <a:pPr indent="0" lvl="0" marL="0" rtl="0" algn="l">
              <a:spcBef>
                <a:spcPts val="0"/>
              </a:spcBef>
              <a:spcAft>
                <a:spcPts val="0"/>
              </a:spcAft>
              <a:buClr>
                <a:schemeClr val="dk1"/>
              </a:buClr>
              <a:buSzPts val="1100"/>
              <a:buFont typeface="Arial"/>
              <a:buNone/>
            </a:pPr>
            <a:r>
              <a:rPr lang="es"/>
              <a:t>definida. Una definición más satisfactoria sería: un problema es una interrogante que infiere sobre la forma en</a:t>
            </a:r>
            <a:endParaRPr/>
          </a:p>
          <a:p>
            <a:pPr indent="0" lvl="0" marL="0" rtl="0" algn="l">
              <a:spcBef>
                <a:spcPts val="0"/>
              </a:spcBef>
              <a:spcAft>
                <a:spcPts val="0"/>
              </a:spcAft>
              <a:buClr>
                <a:schemeClr val="dk1"/>
              </a:buClr>
              <a:buSzPts val="1100"/>
              <a:buFont typeface="Arial"/>
              <a:buNone/>
            </a:pPr>
            <a:r>
              <a:rPr lang="es"/>
              <a:t>que están relacionadas ciertas variables. Plantear el problema de investigación no es sino afinar y estructurar</a:t>
            </a:r>
            <a:endParaRPr/>
          </a:p>
          <a:p>
            <a:pPr indent="0" lvl="0" marL="0" rtl="0" algn="l">
              <a:spcBef>
                <a:spcPts val="0"/>
              </a:spcBef>
              <a:spcAft>
                <a:spcPts val="0"/>
              </a:spcAft>
              <a:buClr>
                <a:schemeClr val="dk1"/>
              </a:buClr>
              <a:buSzPts val="1100"/>
              <a:buFont typeface="Arial"/>
              <a:buNone/>
            </a:pPr>
            <a:r>
              <a:rPr lang="es"/>
              <a:t>más formalmente la idea de investigación.</a:t>
            </a:r>
            <a:endParaRPr/>
          </a:p>
          <a:p>
            <a:pPr indent="0" lvl="0" marL="0" rtl="0" algn="l">
              <a:spcBef>
                <a:spcPts val="0"/>
              </a:spcBef>
              <a:spcAft>
                <a:spcPts val="0"/>
              </a:spcAft>
              <a:buClr>
                <a:schemeClr val="dk1"/>
              </a:buClr>
              <a:buSzPts val="1100"/>
              <a:buFont typeface="Arial"/>
              <a:buNone/>
            </a:pPr>
            <a:r>
              <a:rPr lang="es"/>
              <a:t>Este paso puede ser inmediato o bien, muy tardado, dependiendo de: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La familiaridad con el tema.</a:t>
            </a:r>
            <a:endParaRPr/>
          </a:p>
          <a:p>
            <a:pPr indent="0" lvl="0" marL="0" rtl="0" algn="l">
              <a:spcBef>
                <a:spcPts val="0"/>
              </a:spcBef>
              <a:spcAft>
                <a:spcPts val="0"/>
              </a:spcAft>
              <a:buClr>
                <a:schemeClr val="dk1"/>
              </a:buClr>
              <a:buSzPts val="1100"/>
              <a:buFont typeface="Arial"/>
              <a:buNone/>
            </a:pPr>
            <a:r>
              <a:rPr lang="es"/>
              <a:t>La complejidad misma de la idea.</a:t>
            </a:r>
            <a:endParaRPr/>
          </a:p>
          <a:p>
            <a:pPr indent="0" lvl="0" marL="0" rtl="0" algn="l">
              <a:spcBef>
                <a:spcPts val="0"/>
              </a:spcBef>
              <a:spcAft>
                <a:spcPts val="0"/>
              </a:spcAft>
              <a:buClr>
                <a:schemeClr val="dk1"/>
              </a:buClr>
              <a:buSzPts val="1100"/>
              <a:buFont typeface="Arial"/>
              <a:buNone/>
            </a:pPr>
            <a:r>
              <a:rPr lang="es"/>
              <a:t>La existencia de trabajos previos.</a:t>
            </a:r>
            <a:endParaRPr/>
          </a:p>
          <a:p>
            <a:pPr indent="0" lvl="0" marL="0" rtl="0" algn="l">
              <a:spcBef>
                <a:spcPts val="0"/>
              </a:spcBef>
              <a:spcAft>
                <a:spcPts val="0"/>
              </a:spcAft>
              <a:buClr>
                <a:schemeClr val="dk1"/>
              </a:buClr>
              <a:buSzPts val="1100"/>
              <a:buFont typeface="Arial"/>
              <a:buNone/>
            </a:pPr>
            <a:r>
              <a:rPr lang="es"/>
              <a:t>Las habilidades y dedicación del investigador.</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El planteamiento del problema deberá ir sustentado con datos empíricos (cuantitativos o cualitativos) y en</a:t>
            </a:r>
            <a:endParaRPr/>
          </a:p>
          <a:p>
            <a:pPr indent="0" lvl="0" marL="0" rtl="0" algn="l">
              <a:spcBef>
                <a:spcPts val="0"/>
              </a:spcBef>
              <a:spcAft>
                <a:spcPts val="0"/>
              </a:spcAft>
              <a:buClr>
                <a:schemeClr val="dk1"/>
              </a:buClr>
              <a:buSzPts val="1100"/>
              <a:buFont typeface="Arial"/>
              <a:buNone/>
            </a:pPr>
            <a:r>
              <a:rPr lang="es"/>
              <a:t>hallazgos de otros estudios similares que permitan comprender la importancia que puede tener el problema.</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Para tales fines, en este punto del desarrollo de una investigación, se debe reflejar que el investigador se ha</a:t>
            </a:r>
            <a:endParaRPr/>
          </a:p>
          <a:p>
            <a:pPr indent="0" lvl="0" marL="0" rtl="0" algn="l">
              <a:spcBef>
                <a:spcPts val="0"/>
              </a:spcBef>
              <a:spcAft>
                <a:spcPts val="0"/>
              </a:spcAft>
              <a:buClr>
                <a:schemeClr val="dk1"/>
              </a:buClr>
              <a:buSzPts val="1100"/>
              <a:buFont typeface="Arial"/>
              <a:buNone/>
            </a:pPr>
            <a:r>
              <a:rPr lang="es"/>
              <a:t>documentado sobre el problema y ha realizado una exhaustiva revisión bibliográfica sobre el tema. Se deberá</a:t>
            </a:r>
            <a:endParaRPr/>
          </a:p>
          <a:p>
            <a:pPr indent="0" lvl="0" marL="0" rtl="0" algn="l">
              <a:spcBef>
                <a:spcPts val="0"/>
              </a:spcBef>
              <a:spcAft>
                <a:spcPts val="0"/>
              </a:spcAft>
              <a:buClr>
                <a:schemeClr val="dk1"/>
              </a:buClr>
              <a:buSzPts val="1100"/>
              <a:buFont typeface="Arial"/>
              <a:buNone/>
            </a:pPr>
            <a:r>
              <a:rPr lang="es"/>
              <a:t>aclarar también la pertinencia del problema (a qué área del conocimiento pertenece) y su relevancia (¿a quién</a:t>
            </a:r>
            <a:endParaRPr/>
          </a:p>
          <a:p>
            <a:pPr indent="0" lvl="0" marL="0" rtl="0" algn="l">
              <a:spcBef>
                <a:spcPts val="0"/>
              </a:spcBef>
              <a:spcAft>
                <a:spcPts val="0"/>
              </a:spcAft>
              <a:buClr>
                <a:schemeClr val="dk1"/>
              </a:buClr>
              <a:buSzPts val="1100"/>
              <a:buFont typeface="Arial"/>
              <a:buNone/>
            </a:pPr>
            <a:r>
              <a:rPr lang="es"/>
              <a:t>le sirve, cuáles son sus aplicaciones futuras?) justificando, desde el punto de vista teórico y práctico, la</a:t>
            </a:r>
            <a:endParaRPr/>
          </a:p>
          <a:p>
            <a:pPr indent="0" lvl="0" marL="0" rtl="0" algn="l">
              <a:spcBef>
                <a:spcPts val="0"/>
              </a:spcBef>
              <a:spcAft>
                <a:spcPts val="0"/>
              </a:spcAft>
              <a:buClr>
                <a:schemeClr val="dk1"/>
              </a:buClr>
              <a:buSzPts val="1100"/>
              <a:buFont typeface="Arial"/>
              <a:buNone/>
            </a:pPr>
            <a:r>
              <a:rPr lang="es"/>
              <a:t>selección realizada.</a:t>
            </a:r>
            <a:endParaRPr/>
          </a:p>
          <a:p>
            <a:pPr indent="0" lvl="0" marL="0" rtl="0" algn="l">
              <a:spcBef>
                <a:spcPts val="0"/>
              </a:spcBef>
              <a:spcAft>
                <a:spcPts val="0"/>
              </a:spcAft>
              <a:buClr>
                <a:schemeClr val="dk1"/>
              </a:buClr>
              <a:buSzPts val="1100"/>
              <a:buFont typeface="Arial"/>
              <a:buNone/>
            </a:pPr>
            <a:r>
              <a:rPr lang="es"/>
              <a:t>De tal manera, que describir la situación en la que estamos interesados en investigar, nos obliga a responder</a:t>
            </a:r>
            <a:endParaRPr/>
          </a:p>
          <a:p>
            <a:pPr indent="0" lvl="0" marL="0" rtl="0" algn="l">
              <a:spcBef>
                <a:spcPts val="0"/>
              </a:spcBef>
              <a:spcAft>
                <a:spcPts val="0"/>
              </a:spcAft>
              <a:buClr>
                <a:schemeClr val="dk1"/>
              </a:buClr>
              <a:buSzPts val="1100"/>
              <a:buFont typeface="Arial"/>
              <a:buNone/>
            </a:pPr>
            <a:r>
              <a:rPr lang="es"/>
              <a:t>algunas interrogantes: ¿Qué? Es lo que está sucediendo, ¿Cuál? Es la problemática que está ocurriendo o</a:t>
            </a:r>
            <a:endParaRPr/>
          </a:p>
          <a:p>
            <a:pPr indent="0" lvl="0" marL="0" rtl="0" algn="l">
              <a:spcBef>
                <a:spcPts val="0"/>
              </a:spcBef>
              <a:spcAft>
                <a:spcPts val="0"/>
              </a:spcAft>
              <a:buClr>
                <a:schemeClr val="dk1"/>
              </a:buClr>
              <a:buSzPts val="1100"/>
              <a:buFont typeface="Arial"/>
              <a:buNone/>
            </a:pPr>
            <a:r>
              <a:rPr lang="es"/>
              <a:t>cuáles son los factores que están provocando la situación y se constituyen en puntos críticos para el desarrollo</a:t>
            </a:r>
            <a:endParaRPr/>
          </a:p>
          <a:p>
            <a:pPr indent="0" lvl="0" marL="0" rtl="0" algn="l">
              <a:spcBef>
                <a:spcPts val="0"/>
              </a:spcBef>
              <a:spcAft>
                <a:spcPts val="0"/>
              </a:spcAft>
              <a:buClr>
                <a:schemeClr val="dk1"/>
              </a:buClr>
              <a:buSzPts val="1100"/>
              <a:buFont typeface="Arial"/>
              <a:buNone/>
            </a:pPr>
            <a:r>
              <a:rPr lang="es"/>
              <a:t>lógico del fenómeno o proceso y el desempeño adecuado de cada uno de los elementos que intervienen en</a:t>
            </a:r>
            <a:endParaRPr/>
          </a:p>
          <a:p>
            <a:pPr indent="0" lvl="0" marL="0" rtl="0" algn="l">
              <a:spcBef>
                <a:spcPts val="0"/>
              </a:spcBef>
              <a:spcAft>
                <a:spcPts val="0"/>
              </a:spcAft>
              <a:buClr>
                <a:schemeClr val="dk1"/>
              </a:buClr>
              <a:buSzPts val="1100"/>
              <a:buFont typeface="Arial"/>
              <a:buNone/>
            </a:pPr>
            <a:r>
              <a:rPr lang="es"/>
              <a:t>dicho fenómeno o proceso; ¿Cómo? Puede ser mejorada o modificada la situación actual (esto nos podría</a:t>
            </a:r>
            <a:endParaRPr/>
          </a:p>
          <a:p>
            <a:pPr indent="0" lvl="0" marL="0" rtl="0" algn="l">
              <a:spcBef>
                <a:spcPts val="0"/>
              </a:spcBef>
              <a:spcAft>
                <a:spcPts val="0"/>
              </a:spcAft>
              <a:buClr>
                <a:schemeClr val="dk1"/>
              </a:buClr>
              <a:buSzPts val="1100"/>
              <a:buFont typeface="Arial"/>
              <a:buNone/>
            </a:pPr>
            <a:r>
              <a:rPr lang="es"/>
              <a:t>llevar a la formulación de hipótesis de investigación); ¿Por qué? Debe ser estudiada la situación (esto se</a:t>
            </a:r>
            <a:endParaRPr/>
          </a:p>
          <a:p>
            <a:pPr indent="0" lvl="0" marL="0" rtl="0" algn="l">
              <a:spcBef>
                <a:spcPts val="0"/>
              </a:spcBef>
              <a:spcAft>
                <a:spcPts val="0"/>
              </a:spcAft>
              <a:buClr>
                <a:schemeClr val="dk1"/>
              </a:buClr>
              <a:buSzPts val="1100"/>
              <a:buFont typeface="Arial"/>
              <a:buNone/>
            </a:pPr>
            <a:r>
              <a:rPr lang="es"/>
              <a:t>constituirá en lo que se denomina la justificación del problema), si realmente merece que se estudie y por lo</a:t>
            </a:r>
            <a:endParaRPr/>
          </a:p>
          <a:p>
            <a:pPr indent="0" lvl="0" marL="0" rtl="0" algn="l">
              <a:spcBef>
                <a:spcPts val="0"/>
              </a:spcBef>
              <a:spcAft>
                <a:spcPts val="0"/>
              </a:spcAft>
              <a:buClr>
                <a:schemeClr val="dk1"/>
              </a:buClr>
              <a:buSzPts val="1100"/>
              <a:buFont typeface="Arial"/>
              <a:buNone/>
            </a:pPr>
            <a:r>
              <a:rPr lang="es"/>
              <a:t>tanto sea un problema de investigación, debido a que es posible señalar los beneficios que se obtendrán al</a:t>
            </a:r>
            <a:endParaRPr/>
          </a:p>
          <a:p>
            <a:pPr indent="0" lvl="0" marL="0" rtl="0" algn="l">
              <a:spcBef>
                <a:spcPts val="0"/>
              </a:spcBef>
              <a:spcAft>
                <a:spcPts val="0"/>
              </a:spcAft>
              <a:buClr>
                <a:schemeClr val="dk1"/>
              </a:buClr>
              <a:buSzPts val="1100"/>
              <a:buFont typeface="Arial"/>
              <a:buNone/>
            </a:pPr>
            <a:r>
              <a:rPr lang="es"/>
              <a:t>concluir la investigación, así como las mejoras que se incorporarán (o los cambios que se harán) para mejorar</a:t>
            </a:r>
            <a:endParaRPr/>
          </a:p>
          <a:p>
            <a:pPr indent="0" lvl="0" marL="0" rtl="0" algn="l">
              <a:spcBef>
                <a:spcPts val="0"/>
              </a:spcBef>
              <a:spcAft>
                <a:spcPts val="0"/>
              </a:spcAft>
              <a:buClr>
                <a:schemeClr val="dk1"/>
              </a:buClr>
              <a:buSzPts val="1100"/>
              <a:buFont typeface="Arial"/>
              <a:buNone/>
            </a:pPr>
            <a:r>
              <a:rPr lang="es"/>
              <a:t>la situación planteada.</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33308dff1a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33308dff1a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33308dff1a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33308dff1a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El asombro por sí solo no basta: hay que precisar los problemas y formular las preguntas respectivas. Sólo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mediante la búsqueda de solución a los problemas el asombro se transforma en conocimiento y así como</a:t>
            </a:r>
            <a:endParaRPr/>
          </a:p>
          <a:p>
            <a:pPr indent="0" lvl="0" marL="0" rtl="0" algn="l">
              <a:spcBef>
                <a:spcPts val="0"/>
              </a:spcBef>
              <a:spcAft>
                <a:spcPts val="0"/>
              </a:spcAft>
              <a:buClr>
                <a:schemeClr val="dk1"/>
              </a:buClr>
              <a:buSzPts val="1100"/>
              <a:buFont typeface="Arial"/>
              <a:buNone/>
            </a:pPr>
            <a:r>
              <a:rPr lang="es"/>
              <a:t>sentir asombro no es cosa de magia, plantear preguntas tampoco lo es; en todas las áreas del saber hay temas</a:t>
            </a:r>
            <a:endParaRPr/>
          </a:p>
          <a:p>
            <a:pPr indent="0" lvl="0" marL="0" rtl="0" algn="l">
              <a:spcBef>
                <a:spcPts val="0"/>
              </a:spcBef>
              <a:spcAft>
                <a:spcPts val="0"/>
              </a:spcAft>
              <a:buClr>
                <a:schemeClr val="dk1"/>
              </a:buClr>
              <a:buSzPts val="1100"/>
              <a:buFont typeface="Arial"/>
              <a:buNone/>
            </a:pPr>
            <a:r>
              <a:rPr lang="es"/>
              <a:t>interesantes de investigación.</a:t>
            </a:r>
            <a:endParaRPr/>
          </a:p>
          <a:p>
            <a:pPr indent="0" lvl="0" marL="0" rtl="0" algn="l">
              <a:spcBef>
                <a:spcPts val="0"/>
              </a:spcBef>
              <a:spcAft>
                <a:spcPts val="0"/>
              </a:spcAft>
              <a:buClr>
                <a:schemeClr val="dk1"/>
              </a:buClr>
              <a:buSzPts val="1100"/>
              <a:buFont typeface="Arial"/>
              <a:buNone/>
            </a:pPr>
            <a:r>
              <a:rPr lang="es"/>
              <a:t>0.7.1 ¿De dónde surgen las preguntas de investigación?</a:t>
            </a:r>
            <a:endParaRPr/>
          </a:p>
          <a:p>
            <a:pPr indent="0" lvl="0" marL="0" rtl="0" algn="l">
              <a:spcBef>
                <a:spcPts val="0"/>
              </a:spcBef>
              <a:spcAft>
                <a:spcPts val="0"/>
              </a:spcAft>
              <a:buClr>
                <a:schemeClr val="dk1"/>
              </a:buClr>
              <a:buSzPts val="1100"/>
              <a:buFont typeface="Arial"/>
              <a:buNone/>
            </a:pPr>
            <a:r>
              <a:rPr lang="es"/>
              <a:t>El conocimiento nuevo se origina a partir de haber realizado preguntas que son contestables. Para encontrar</a:t>
            </a:r>
            <a:endParaRPr/>
          </a:p>
          <a:p>
            <a:pPr indent="0" lvl="0" marL="0" rtl="0" algn="l">
              <a:spcBef>
                <a:spcPts val="0"/>
              </a:spcBef>
              <a:spcAft>
                <a:spcPts val="0"/>
              </a:spcAft>
              <a:buClr>
                <a:schemeClr val="dk1"/>
              </a:buClr>
              <a:buSzPts val="1100"/>
              <a:buFont typeface="Arial"/>
              <a:buNone/>
            </a:pPr>
            <a:r>
              <a:rPr lang="es"/>
              <a:t>respuestas nuevas y útiles a los problemas importantes que no se han resuelto, es necesario tener</a:t>
            </a:r>
            <a:endParaRPr/>
          </a:p>
          <a:p>
            <a:pPr indent="0" lvl="0" marL="0" rtl="0" algn="l">
              <a:spcBef>
                <a:spcPts val="0"/>
              </a:spcBef>
              <a:spcAft>
                <a:spcPts val="0"/>
              </a:spcAft>
              <a:buClr>
                <a:schemeClr val="dk1"/>
              </a:buClr>
              <a:buSzPts val="1100"/>
              <a:buFont typeface="Arial"/>
              <a:buNone/>
            </a:pPr>
            <a:r>
              <a:rPr lang="es"/>
              <a:t>conocimiento sobre el problema a estudiar. Si no se conoce adecuadamente el problema de estudio, es difícil</a:t>
            </a:r>
            <a:endParaRPr/>
          </a:p>
          <a:p>
            <a:pPr indent="0" lvl="0" marL="0" rtl="0" algn="l">
              <a:spcBef>
                <a:spcPts val="0"/>
              </a:spcBef>
              <a:spcAft>
                <a:spcPts val="0"/>
              </a:spcAft>
              <a:buClr>
                <a:schemeClr val="dk1"/>
              </a:buClr>
              <a:buSzPts val="1100"/>
              <a:buFont typeface="Arial"/>
              <a:buNone/>
            </a:pPr>
            <a:r>
              <a:rPr lang="es"/>
              <a:t>imaginar que intervenciones y pruebas diagnósticas plausibles puedan ser desarrolladas. Sin conocer la</a:t>
            </a:r>
            <a:endParaRPr/>
          </a:p>
          <a:p>
            <a:pPr indent="0" lvl="0" marL="0" rtl="0" algn="l">
              <a:spcBef>
                <a:spcPts val="0"/>
              </a:spcBef>
              <a:spcAft>
                <a:spcPts val="0"/>
              </a:spcAft>
              <a:buClr>
                <a:schemeClr val="dk1"/>
              </a:buClr>
              <a:buSzPts val="1100"/>
              <a:buFont typeface="Arial"/>
              <a:buNone/>
            </a:pPr>
            <a:r>
              <a:rPr lang="es"/>
              <a:t>situación actual del tema que se desea investigar, es difícil conocer si uno está tomando una dirección</a:t>
            </a:r>
            <a:endParaRPr/>
          </a:p>
          <a:p>
            <a:pPr indent="0" lvl="0" marL="0" rtl="0" algn="l">
              <a:spcBef>
                <a:spcPts val="0"/>
              </a:spcBef>
              <a:spcAft>
                <a:spcPts val="0"/>
              </a:spcAft>
              <a:buClr>
                <a:schemeClr val="dk1"/>
              </a:buClr>
              <a:buSzPts val="1100"/>
              <a:buFont typeface="Arial"/>
              <a:buNone/>
            </a:pPr>
            <a:r>
              <a:rPr lang="es"/>
              <a:t>adecuada para la investigación de un problema. Así, la primera respuesta a la pregunta inicial es que la</a:t>
            </a:r>
            <a:endParaRPr/>
          </a:p>
          <a:p>
            <a:pPr indent="0" lvl="0" marL="0" rtl="0" algn="l">
              <a:spcBef>
                <a:spcPts val="0"/>
              </a:spcBef>
              <a:spcAft>
                <a:spcPts val="0"/>
              </a:spcAft>
              <a:buClr>
                <a:schemeClr val="dk1"/>
              </a:buClr>
              <a:buSzPts val="1100"/>
              <a:buFont typeface="Arial"/>
              <a:buNone/>
            </a:pPr>
            <a:r>
              <a:rPr lang="es"/>
              <a:t>pregunta de investigación surge de identificar cuál es la situación actual sobre el problema de salud que se</a:t>
            </a:r>
            <a:endParaRPr/>
          </a:p>
          <a:p>
            <a:pPr indent="0" lvl="0" marL="0" rtl="0" algn="l">
              <a:spcBef>
                <a:spcPts val="0"/>
              </a:spcBef>
              <a:spcAft>
                <a:spcPts val="0"/>
              </a:spcAft>
              <a:buClr>
                <a:schemeClr val="dk1"/>
              </a:buClr>
              <a:buSzPts val="1100"/>
              <a:buFont typeface="Arial"/>
              <a:buNone/>
            </a:pPr>
            <a:r>
              <a:rPr lang="es"/>
              <a:t>desea investigar.</a:t>
            </a:r>
            <a:endParaRPr/>
          </a:p>
          <a:p>
            <a:pPr indent="0" lvl="0" marL="0" rtl="0" algn="l">
              <a:spcBef>
                <a:spcPts val="0"/>
              </a:spcBef>
              <a:spcAft>
                <a:spcPts val="0"/>
              </a:spcAft>
              <a:buClr>
                <a:schemeClr val="dk1"/>
              </a:buClr>
              <a:buSzPts val="1100"/>
              <a:buFont typeface="Arial"/>
              <a:buNone/>
            </a:pPr>
            <a:r>
              <a:rPr lang="es"/>
              <a:t>0.7.2 ¿Qué hacer?</a:t>
            </a:r>
            <a:endParaRPr/>
          </a:p>
          <a:p>
            <a:pPr indent="0" lvl="0" marL="0" rtl="0" algn="l">
              <a:spcBef>
                <a:spcPts val="0"/>
              </a:spcBef>
              <a:spcAft>
                <a:spcPts val="0"/>
              </a:spcAft>
              <a:buClr>
                <a:schemeClr val="dk1"/>
              </a:buClr>
              <a:buSzPts val="1100"/>
              <a:buFont typeface="Arial"/>
              <a:buNone/>
            </a:pPr>
            <a:r>
              <a:rPr lang="es"/>
              <a:t>Einstein decía: “hacer nuevas preguntas o considerar anteriores desde otro punto de vista requiere</a:t>
            </a:r>
            <a:endParaRPr/>
          </a:p>
          <a:p>
            <a:pPr indent="0" lvl="0" marL="0" rtl="0" algn="l">
              <a:spcBef>
                <a:spcPts val="0"/>
              </a:spcBef>
              <a:spcAft>
                <a:spcPts val="0"/>
              </a:spcAft>
              <a:buClr>
                <a:schemeClr val="dk1"/>
              </a:buClr>
              <a:buSzPts val="1100"/>
              <a:buFont typeface="Arial"/>
              <a:buNone/>
            </a:pPr>
            <a:r>
              <a:rPr lang="es"/>
              <a:t>creatividad”. La creatividad, esmero, no es sólo un don natural: es el fruto del trabajo y la disciplina.</a:t>
            </a:r>
            <a:endParaRPr/>
          </a:p>
          <a:p>
            <a:pPr indent="0" lvl="0" marL="0" rtl="0" algn="l">
              <a:spcBef>
                <a:spcPts val="0"/>
              </a:spcBef>
              <a:spcAft>
                <a:spcPts val="0"/>
              </a:spcAft>
              <a:buClr>
                <a:schemeClr val="dk1"/>
              </a:buClr>
              <a:buSzPts val="1100"/>
              <a:buFont typeface="Arial"/>
              <a:buNone/>
            </a:pPr>
            <a:r>
              <a:rPr lang="es"/>
              <a:t>Como en todo trabajo creativo, para plantear preguntas no hay fórmulas de validez universal; sin embargo,</a:t>
            </a:r>
            <a:endParaRPr/>
          </a:p>
          <a:p>
            <a:pPr indent="0" lvl="0" marL="0" rtl="0" algn="l">
              <a:spcBef>
                <a:spcPts val="0"/>
              </a:spcBef>
              <a:spcAft>
                <a:spcPts val="0"/>
              </a:spcAft>
              <a:buClr>
                <a:schemeClr val="dk1"/>
              </a:buClr>
              <a:buSzPts val="1100"/>
              <a:buFont typeface="Arial"/>
              <a:buNone/>
            </a:pPr>
            <a:r>
              <a:rPr lang="es"/>
              <a:t>hay estrategias que Ud. puede probar:</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s"/>
              <a:t>La pregunta no siempre comunica el problema en su totalidad, ya que cada problema requiere de un</a:t>
            </a:r>
            <a:endParaRPr/>
          </a:p>
          <a:p>
            <a:pPr indent="0" lvl="0" marL="0" rtl="0" algn="l">
              <a:spcBef>
                <a:spcPts val="0"/>
              </a:spcBef>
              <a:spcAft>
                <a:spcPts val="0"/>
              </a:spcAft>
              <a:buClr>
                <a:schemeClr val="dk1"/>
              </a:buClr>
              <a:buSzPts val="1100"/>
              <a:buFont typeface="Arial"/>
              <a:buNone/>
            </a:pPr>
            <a:r>
              <a:rPr lang="es"/>
              <a:t>análisis en lo particular.</a:t>
            </a:r>
            <a:endParaRPr/>
          </a:p>
          <a:p>
            <a:pPr indent="0" lvl="0" marL="0" rtl="0" algn="l">
              <a:spcBef>
                <a:spcPts val="0"/>
              </a:spcBef>
              <a:spcAft>
                <a:spcPts val="0"/>
              </a:spcAft>
              <a:buClr>
                <a:schemeClr val="dk1"/>
              </a:buClr>
              <a:buSzPts val="1100"/>
              <a:buFont typeface="Arial"/>
              <a:buNone/>
            </a:pPr>
            <a:r>
              <a:rPr lang="es"/>
              <a:t>Las preguntas no deben ser demasiado generales ya que no conducen al aspecto concreto de</a:t>
            </a:r>
            <a:endParaRPr/>
          </a:p>
          <a:p>
            <a:pPr indent="0" lvl="0" marL="0" rtl="0" algn="l">
              <a:spcBef>
                <a:spcPts val="0"/>
              </a:spcBef>
              <a:spcAft>
                <a:spcPts val="0"/>
              </a:spcAft>
              <a:buClr>
                <a:schemeClr val="dk1"/>
              </a:buClr>
              <a:buSzPts val="1100"/>
              <a:buFont typeface="Arial"/>
              <a:buNone/>
            </a:pPr>
            <a:r>
              <a:rPr lang="es"/>
              <a:t>investigación.</a:t>
            </a:r>
            <a:endParaRPr/>
          </a:p>
          <a:p>
            <a:pPr indent="0" lvl="0" marL="0" rtl="0" algn="l">
              <a:spcBef>
                <a:spcPts val="0"/>
              </a:spcBef>
              <a:spcAft>
                <a:spcPts val="0"/>
              </a:spcAft>
              <a:buClr>
                <a:schemeClr val="dk1"/>
              </a:buClr>
              <a:buSzPts val="1100"/>
              <a:buFont typeface="Arial"/>
              <a:buNone/>
            </a:pPr>
            <a:r>
              <a:rPr lang="es"/>
              <a:t>Las preguntas no deben usar términos ambiguos ni abstractos. Constituyen más bien ideas iniciales</a:t>
            </a:r>
            <a:endParaRPr/>
          </a:p>
          <a:p>
            <a:pPr indent="0" lvl="0" marL="0" rtl="0" algn="l">
              <a:spcBef>
                <a:spcPts val="0"/>
              </a:spcBef>
              <a:spcAft>
                <a:spcPts val="0"/>
              </a:spcAft>
              <a:buClr>
                <a:schemeClr val="dk1"/>
              </a:buClr>
              <a:buSzPts val="1100"/>
              <a:buFont typeface="Arial"/>
              <a:buNone/>
            </a:pPr>
            <a:r>
              <a:rPr lang="es"/>
              <a:t>que es necesario refinar y precisar para que guíen el estudio.</a:t>
            </a:r>
            <a:endParaRPr/>
          </a:p>
          <a:p>
            <a:pPr indent="0" lvl="0" marL="0" rtl="0" algn="l">
              <a:spcBef>
                <a:spcPts val="0"/>
              </a:spcBef>
              <a:spcAft>
                <a:spcPts val="0"/>
              </a:spcAft>
              <a:buClr>
                <a:schemeClr val="dk1"/>
              </a:buClr>
              <a:buSzPts val="1100"/>
              <a:buFont typeface="Arial"/>
              <a:buNone/>
            </a:pPr>
            <a:r>
              <a:rPr lang="es"/>
              <a:t>Evitar preguntas que generen una gran cantidad de dudas. Las preguntas deben ser precisas.</a:t>
            </a:r>
            <a:endParaRPr/>
          </a:p>
          <a:p>
            <a:pPr indent="0" lvl="0" marL="0" rtl="0" algn="l">
              <a:spcBef>
                <a:spcPts val="0"/>
              </a:spcBef>
              <a:spcAft>
                <a:spcPts val="0"/>
              </a:spcAft>
              <a:buClr>
                <a:schemeClr val="dk1"/>
              </a:buClr>
              <a:buSzPts val="1100"/>
              <a:buFont typeface="Arial"/>
              <a:buNone/>
            </a:pPr>
            <a:r>
              <a:rPr lang="es"/>
              <a:t>Las preguntas deben establecer los límites temporales y espaciales del estudio a realizar.</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33308dff1a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33308dff1a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33308dff1a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33308dff1a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33308dff1a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33308dff1a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33308dff1a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33308dff1a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33308dff1a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33308dff1a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33308dff1a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33308dff1a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33308dff1a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33308dff1a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33308dff1a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33308dff1a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t>OBJETIVOS DE LA INVESTIGACIÓN</a:t>
            </a:r>
            <a:endParaRPr/>
          </a:p>
          <a:p>
            <a:pPr indent="0" lvl="0" marL="0" rtl="0" algn="l">
              <a:spcBef>
                <a:spcPts val="0"/>
              </a:spcBef>
              <a:spcAft>
                <a:spcPts val="0"/>
              </a:spcAft>
              <a:buClr>
                <a:schemeClr val="dk1"/>
              </a:buClr>
              <a:buSzPts val="1100"/>
              <a:buFont typeface="Arial"/>
              <a:buNone/>
            </a:pPr>
            <a:r>
              <a:rPr lang="es"/>
              <a:t>Los elementos para plantear un problema de investigación son tres y están relacionados entre sí: los objetivos</a:t>
            </a:r>
            <a:endParaRPr/>
          </a:p>
          <a:p>
            <a:pPr indent="0" lvl="0" marL="0" rtl="0" algn="l">
              <a:spcBef>
                <a:spcPts val="0"/>
              </a:spcBef>
              <a:spcAft>
                <a:spcPts val="0"/>
              </a:spcAft>
              <a:buClr>
                <a:schemeClr val="dk1"/>
              </a:buClr>
              <a:buSzPts val="1100"/>
              <a:buFont typeface="Arial"/>
              <a:buNone/>
            </a:pPr>
            <a:r>
              <a:rPr lang="es"/>
              <a:t>que persigue la investigación, las preguntas de investigación y la justificación del estudio. Sin embargo por</a:t>
            </a:r>
            <a:endParaRPr/>
          </a:p>
          <a:p>
            <a:pPr indent="0" lvl="0" marL="0" rtl="0" algn="l">
              <a:spcBef>
                <a:spcPts val="0"/>
              </a:spcBef>
              <a:spcAft>
                <a:spcPts val="0"/>
              </a:spcAft>
              <a:buClr>
                <a:schemeClr val="dk1"/>
              </a:buClr>
              <a:buSzPts val="1100"/>
              <a:buFont typeface="Arial"/>
              <a:buNone/>
            </a:pPr>
            <a:r>
              <a:rPr lang="es"/>
              <a:t>factores netamente pedagógicos hemos separado la estructuración de dichos aspectos.</a:t>
            </a:r>
            <a:endParaRPr/>
          </a:p>
          <a:p>
            <a:pPr indent="0" lvl="0" marL="0" rtl="0" algn="l">
              <a:spcBef>
                <a:spcPts val="0"/>
              </a:spcBef>
              <a:spcAft>
                <a:spcPts val="0"/>
              </a:spcAft>
              <a:buClr>
                <a:schemeClr val="dk1"/>
              </a:buClr>
              <a:buSzPts val="1100"/>
              <a:buFont typeface="Arial"/>
              <a:buNone/>
            </a:pPr>
            <a:r>
              <a:rPr lang="es"/>
              <a:t>En primer lugar, es necesario establecer qué pretende la investigación, es decir, cuáles son sus objetivos. Hay</a:t>
            </a:r>
            <a:endParaRPr/>
          </a:p>
          <a:p>
            <a:pPr indent="0" lvl="0" marL="0" rtl="0" algn="l">
              <a:spcBef>
                <a:spcPts val="0"/>
              </a:spcBef>
              <a:spcAft>
                <a:spcPts val="0"/>
              </a:spcAft>
              <a:buClr>
                <a:schemeClr val="dk1"/>
              </a:buClr>
              <a:buSzPts val="1100"/>
              <a:buFont typeface="Arial"/>
              <a:buNone/>
            </a:pPr>
            <a:r>
              <a:rPr lang="es"/>
              <a:t>investigaciones que buscan ante todo contribuir a resolver un problema en especial, en este caso debe</a:t>
            </a:r>
            <a:endParaRPr/>
          </a:p>
          <a:p>
            <a:pPr indent="0" lvl="0" marL="0" rtl="0" algn="l">
              <a:spcBef>
                <a:spcPts val="0"/>
              </a:spcBef>
              <a:spcAft>
                <a:spcPts val="0"/>
              </a:spcAft>
              <a:buClr>
                <a:schemeClr val="dk1"/>
              </a:buClr>
              <a:buSzPts val="1100"/>
              <a:buFont typeface="Arial"/>
              <a:buNone/>
            </a:pPr>
            <a:r>
              <a:rPr lang="es"/>
              <a:t>mencionarse cuál es y de qué manera se piensa que el estudio ayudará a resolverlo y otras que tienen como</a:t>
            </a:r>
            <a:endParaRPr/>
          </a:p>
          <a:p>
            <a:pPr indent="0" lvl="0" marL="0" rtl="0" algn="l">
              <a:spcBef>
                <a:spcPts val="0"/>
              </a:spcBef>
              <a:spcAft>
                <a:spcPts val="0"/>
              </a:spcAft>
              <a:buClr>
                <a:schemeClr val="dk1"/>
              </a:buClr>
              <a:buSzPts val="1100"/>
              <a:buFont typeface="Arial"/>
              <a:buNone/>
            </a:pPr>
            <a:r>
              <a:rPr lang="es"/>
              <a:t>objetivo principal probar una teoría o aportar evidencia empírica a ésta.</a:t>
            </a:r>
            <a:endParaRPr/>
          </a:p>
          <a:p>
            <a:pPr indent="0" lvl="0" marL="0" rtl="0" algn="l">
              <a:spcBef>
                <a:spcPts val="0"/>
              </a:spcBef>
              <a:spcAft>
                <a:spcPts val="0"/>
              </a:spcAft>
              <a:buClr>
                <a:schemeClr val="dk1"/>
              </a:buClr>
              <a:buSzPts val="1100"/>
              <a:buFont typeface="Arial"/>
              <a:buNone/>
            </a:pPr>
            <a:r>
              <a:rPr lang="es"/>
              <a:t>0.10 Objetivos</a:t>
            </a:r>
            <a:endParaRPr/>
          </a:p>
          <a:p>
            <a:pPr indent="0" lvl="0" marL="0" rtl="0" algn="l">
              <a:spcBef>
                <a:spcPts val="0"/>
              </a:spcBef>
              <a:spcAft>
                <a:spcPts val="0"/>
              </a:spcAft>
              <a:buClr>
                <a:schemeClr val="dk1"/>
              </a:buClr>
              <a:buSzPts val="1100"/>
              <a:buFont typeface="Arial"/>
              <a:buNone/>
            </a:pPr>
            <a:r>
              <a:rPr lang="es"/>
              <a:t>deben expresarse con claridad para evitar posibles desviaciones en el proceso de investigación y deben ser</a:t>
            </a:r>
            <a:endParaRPr/>
          </a:p>
          <a:p>
            <a:pPr indent="0" lvl="0" marL="0" rtl="0" algn="l">
              <a:spcBef>
                <a:spcPts val="0"/>
              </a:spcBef>
              <a:spcAft>
                <a:spcPts val="0"/>
              </a:spcAft>
              <a:buClr>
                <a:schemeClr val="dk1"/>
              </a:buClr>
              <a:buSzPts val="1100"/>
              <a:buFont typeface="Arial"/>
              <a:buNone/>
            </a:pPr>
            <a:r>
              <a:rPr lang="es"/>
              <a:t>susceptibles de alcanzarse; son las guías del estudio y durante todo el desarrollo del mismo deben tenerse</a:t>
            </a:r>
            <a:endParaRPr/>
          </a:p>
          <a:p>
            <a:pPr indent="0" lvl="0" marL="0" rtl="0" algn="l">
              <a:spcBef>
                <a:spcPts val="0"/>
              </a:spcBef>
              <a:spcAft>
                <a:spcPts val="0"/>
              </a:spcAft>
              <a:buClr>
                <a:schemeClr val="dk1"/>
              </a:buClr>
              <a:buSzPts val="1100"/>
              <a:buFont typeface="Arial"/>
              <a:buNone/>
            </a:pPr>
            <a:r>
              <a:rPr lang="es"/>
              <a:t>presentes.</a:t>
            </a:r>
            <a:endParaRPr/>
          </a:p>
          <a:p>
            <a:pPr indent="0" lvl="0" marL="0" rtl="0" algn="l">
              <a:spcBef>
                <a:spcPts val="0"/>
              </a:spcBef>
              <a:spcAft>
                <a:spcPts val="0"/>
              </a:spcAft>
              <a:buClr>
                <a:schemeClr val="dk1"/>
              </a:buClr>
              <a:buSzPts val="1100"/>
              <a:buFont typeface="Arial"/>
              <a:buNone/>
            </a:pPr>
            <a:r>
              <a:rPr lang="es"/>
              <a:t>0.10.1 Generales y específicos.</a:t>
            </a:r>
            <a:endParaRPr/>
          </a:p>
          <a:p>
            <a:pPr indent="0" lvl="0" marL="0" rtl="0" algn="l">
              <a:spcBef>
                <a:spcPts val="0"/>
              </a:spcBef>
              <a:spcAft>
                <a:spcPts val="0"/>
              </a:spcAft>
              <a:buClr>
                <a:schemeClr val="dk1"/>
              </a:buClr>
              <a:buSzPts val="1100"/>
              <a:buFont typeface="Arial"/>
              <a:buNone/>
            </a:pPr>
            <a:r>
              <a:rPr lang="es"/>
              <a:t>Los primeros son las metas centrales de la investigación y plantean de una manera amplia hasta dónde va a</a:t>
            </a:r>
            <a:endParaRPr/>
          </a:p>
          <a:p>
            <a:pPr indent="0" lvl="0" marL="0" rtl="0" algn="l">
              <a:spcBef>
                <a:spcPts val="0"/>
              </a:spcBef>
              <a:spcAft>
                <a:spcPts val="0"/>
              </a:spcAft>
              <a:buClr>
                <a:schemeClr val="dk1"/>
              </a:buClr>
              <a:buSzPts val="1100"/>
              <a:buFont typeface="Arial"/>
              <a:buNone/>
            </a:pPr>
            <a:r>
              <a:rPr lang="es"/>
              <a:t>llegar ésta. Los objetivos específicos expresan metas concretas que son necesarias para alcanzar el objetivo</a:t>
            </a:r>
            <a:endParaRPr/>
          </a:p>
          <a:p>
            <a:pPr indent="0" lvl="0" marL="0" rtl="0" algn="l">
              <a:spcBef>
                <a:spcPts val="0"/>
              </a:spcBef>
              <a:spcAft>
                <a:spcPts val="0"/>
              </a:spcAft>
              <a:buClr>
                <a:schemeClr val="dk1"/>
              </a:buClr>
              <a:buSzPts val="1100"/>
              <a:buFont typeface="Arial"/>
              <a:buNone/>
            </a:pPr>
            <a:r>
              <a:rPr lang="es"/>
              <a:t>general.</a:t>
            </a:r>
            <a:endParaRPr/>
          </a:p>
          <a:p>
            <a:pPr indent="0" lvl="0" marL="0" rtl="0" algn="l">
              <a:spcBef>
                <a:spcPts val="0"/>
              </a:spcBef>
              <a:spcAft>
                <a:spcPts val="0"/>
              </a:spcAft>
              <a:buClr>
                <a:schemeClr val="dk1"/>
              </a:buClr>
              <a:buSzPts val="1100"/>
              <a:buFont typeface="Arial"/>
              <a:buNone/>
            </a:pPr>
            <a:r>
              <a:rPr lang="es"/>
              <a:t>Es conveniente comentar que durante la investigación pueden surgir objetivos adicionales, modificarse los</a:t>
            </a:r>
            <a:endParaRPr/>
          </a:p>
          <a:p>
            <a:pPr indent="0" lvl="0" marL="0" rtl="0" algn="l">
              <a:spcBef>
                <a:spcPts val="0"/>
              </a:spcBef>
              <a:spcAft>
                <a:spcPts val="0"/>
              </a:spcAft>
              <a:buClr>
                <a:schemeClr val="dk1"/>
              </a:buClr>
              <a:buSzPts val="1100"/>
              <a:buFont typeface="Arial"/>
              <a:buNone/>
            </a:pPr>
            <a:r>
              <a:rPr lang="es"/>
              <a:t>objetivos iniciales e incluso ser sustituidos por nuevos objetivos, dependiendo de la dirección que tome la</a:t>
            </a:r>
            <a:endParaRPr/>
          </a:p>
          <a:p>
            <a:pPr indent="0" lvl="0" marL="0" rtl="0" algn="l">
              <a:spcBef>
                <a:spcPts val="0"/>
              </a:spcBef>
              <a:spcAft>
                <a:spcPts val="0"/>
              </a:spcAft>
              <a:buClr>
                <a:schemeClr val="dk1"/>
              </a:buClr>
              <a:buSzPts val="1100"/>
              <a:buFont typeface="Arial"/>
              <a:buNone/>
            </a:pPr>
            <a:r>
              <a:rPr lang="es"/>
              <a:t>investigación.</a:t>
            </a:r>
            <a:endParaRPr/>
          </a:p>
          <a:p>
            <a:pPr indent="0" lvl="0" marL="0" rtl="0" algn="l">
              <a:spcBef>
                <a:spcPts val="0"/>
              </a:spcBef>
              <a:spcAft>
                <a:spcPts val="0"/>
              </a:spcAft>
              <a:buClr>
                <a:schemeClr val="dk1"/>
              </a:buClr>
              <a:buSzPts val="1100"/>
              <a:buFont typeface="Arial"/>
              <a:buNone/>
            </a:pPr>
            <a:r>
              <a:rPr lang="es"/>
              <a:t>0.10.1.1 Criterios para redactar correctamente los objetivos</a:t>
            </a:r>
            <a:endParaRPr/>
          </a:p>
          <a:p>
            <a:pPr indent="0" lvl="0" marL="0" rtl="0" algn="l">
              <a:spcBef>
                <a:spcPts val="0"/>
              </a:spcBef>
              <a:spcAft>
                <a:spcPts val="0"/>
              </a:spcAft>
              <a:buClr>
                <a:schemeClr val="dk1"/>
              </a:buClr>
              <a:buSzPts val="1100"/>
              <a:buFont typeface="Arial"/>
              <a:buNone/>
            </a:pPr>
            <a:r>
              <a:rPr lang="es"/>
              <a:t>1. Se redactan comenzando con un verbo en infinitivo (determinar, demostrar, evaluar, relacionar) que</a:t>
            </a:r>
            <a:endParaRPr/>
          </a:p>
          <a:p>
            <a:pPr indent="0" lvl="0" marL="0" rtl="0" algn="l">
              <a:spcBef>
                <a:spcPts val="0"/>
              </a:spcBef>
              <a:spcAft>
                <a:spcPts val="0"/>
              </a:spcAft>
              <a:buClr>
                <a:schemeClr val="dk1"/>
              </a:buClr>
              <a:buSzPts val="1100"/>
              <a:buFont typeface="Arial"/>
              <a:buNone/>
            </a:pPr>
            <a:r>
              <a:rPr lang="es"/>
              <a:t>indique la acción que se ha de llevar a cabo en la investigación.</a:t>
            </a:r>
            <a:endParaRPr/>
          </a:p>
          <a:p>
            <a:pPr indent="0" lvl="0" marL="0" rtl="0" algn="l">
              <a:spcBef>
                <a:spcPts val="0"/>
              </a:spcBef>
              <a:spcAft>
                <a:spcPts val="0"/>
              </a:spcAft>
              <a:buClr>
                <a:schemeClr val="dk1"/>
              </a:buClr>
              <a:buSzPts val="1100"/>
              <a:buFont typeface="Arial"/>
              <a:buNone/>
            </a:pPr>
            <a:r>
              <a:rPr lang="es"/>
              <a:t>2. Deben estar dirigidos a los elementos básicos del problema.</a:t>
            </a:r>
            <a:endParaRPr/>
          </a:p>
          <a:p>
            <a:pPr indent="0" lvl="0" marL="0" rtl="0" algn="l">
              <a:spcBef>
                <a:spcPts val="0"/>
              </a:spcBef>
              <a:spcAft>
                <a:spcPts val="0"/>
              </a:spcAft>
              <a:buClr>
                <a:schemeClr val="dk1"/>
              </a:buClr>
              <a:buSzPts val="1100"/>
              <a:buFont typeface="Arial"/>
              <a:buNone/>
            </a:pPr>
            <a:r>
              <a:rPr lang="es"/>
              <a:t>3. Deben ser factibles de alcanzar.</a:t>
            </a:r>
            <a:endParaRPr/>
          </a:p>
          <a:p>
            <a:pPr indent="0" lvl="0" marL="0" rtl="0" algn="l">
              <a:spcBef>
                <a:spcPts val="0"/>
              </a:spcBef>
              <a:spcAft>
                <a:spcPts val="0"/>
              </a:spcAft>
              <a:buClr>
                <a:schemeClr val="dk1"/>
              </a:buClr>
              <a:buSzPts val="1100"/>
              <a:buFont typeface="Arial"/>
              <a:buNone/>
            </a:pPr>
            <a:r>
              <a:rPr lang="es"/>
              <a:t>4. Deben ser claros, evitar la ambigüedad. Expresiones que no indiquen claramente lo que se va a</a:t>
            </a:r>
            <a:endParaRPr/>
          </a:p>
          <a:p>
            <a:pPr indent="0" lvl="0" marL="0" rtl="0" algn="l">
              <a:spcBef>
                <a:spcPts val="0"/>
              </a:spcBef>
              <a:spcAft>
                <a:spcPts val="0"/>
              </a:spcAft>
              <a:buClr>
                <a:schemeClr val="dk1"/>
              </a:buClr>
              <a:buSzPts val="1100"/>
              <a:buFont typeface="Arial"/>
              <a:buNone/>
            </a:pPr>
            <a:r>
              <a:rPr lang="es"/>
              <a:t>realizar deben evitarse en la redacción de los objetivos, por ejemplo los términos “adecuado”, “bien</a:t>
            </a:r>
            <a:endParaRPr/>
          </a:p>
          <a:p>
            <a:pPr indent="0" lvl="0" marL="0" rtl="0" algn="l">
              <a:spcBef>
                <a:spcPts val="0"/>
              </a:spcBef>
              <a:spcAft>
                <a:spcPts val="0"/>
              </a:spcAft>
              <a:buClr>
                <a:schemeClr val="dk1"/>
              </a:buClr>
              <a:buSzPts val="1100"/>
              <a:buFont typeface="Arial"/>
              <a:buNone/>
            </a:pPr>
            <a:r>
              <a:rPr lang="es"/>
              <a:t>hecho”, “lógico”, “útil”, pueden ser interpretados de diferentes maneras y por lo tanto no deben ser</a:t>
            </a:r>
            <a:endParaRPr/>
          </a:p>
          <a:p>
            <a:pPr indent="0" lvl="0" marL="0" rtl="0" algn="l">
              <a:spcBef>
                <a:spcPts val="0"/>
              </a:spcBef>
              <a:spcAft>
                <a:spcPts val="0"/>
              </a:spcAft>
              <a:buClr>
                <a:schemeClr val="dk1"/>
              </a:buClr>
              <a:buSzPts val="1100"/>
              <a:buFont typeface="Arial"/>
              <a:buNone/>
            </a:pPr>
            <a:r>
              <a:rPr lang="es"/>
              <a:t>utilizadas.</a:t>
            </a:r>
            <a:endParaRPr/>
          </a:p>
          <a:p>
            <a:pPr indent="0" lvl="0" marL="0" rtl="0" algn="l">
              <a:spcBef>
                <a:spcPts val="0"/>
              </a:spcBef>
              <a:spcAft>
                <a:spcPts val="0"/>
              </a:spcAft>
              <a:buClr>
                <a:schemeClr val="dk1"/>
              </a:buClr>
              <a:buSzPts val="1100"/>
              <a:buFont typeface="Arial"/>
              <a:buNone/>
            </a:pPr>
            <a:r>
              <a:rPr lang="es"/>
              <a:t>5. Deben ser precisos, es decir, contemplar un solo aspecto del problema.</a:t>
            </a:r>
            <a:endParaRPr/>
          </a:p>
          <a:p>
            <a:pPr indent="0" lvl="0" marL="0" rtl="0" algn="l">
              <a:spcBef>
                <a:spcPts val="0"/>
              </a:spcBef>
              <a:spcAft>
                <a:spcPts val="0"/>
              </a:spcAft>
              <a:buClr>
                <a:schemeClr val="dk1"/>
              </a:buClr>
              <a:buSzPts val="1100"/>
              <a:buFont typeface="Arial"/>
              <a:buNone/>
            </a:pPr>
            <a:r>
              <a:rPr lang="es"/>
              <a:t>6. Los objetivos específicos deben seguir una secuencia lógica que indique los pasos o etapas que se</a:t>
            </a:r>
            <a:endParaRPr/>
          </a:p>
          <a:p>
            <a:pPr indent="0" lvl="0" marL="0" rtl="0" algn="l">
              <a:spcBef>
                <a:spcPts val="0"/>
              </a:spcBef>
              <a:spcAft>
                <a:spcPts val="0"/>
              </a:spcAft>
              <a:buClr>
                <a:schemeClr val="dk1"/>
              </a:buClr>
              <a:buSzPts val="1100"/>
              <a:buFont typeface="Arial"/>
              <a:buNone/>
            </a:pPr>
            <a:r>
              <a:rPr lang="es"/>
              <a:t>han de cumplir para lograr el objetivo general</a:t>
            </a:r>
            <a:endParaRPr/>
          </a:p>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33308dff1a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33308dff1a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33308dff1a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33308dff1a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33308dff1a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33308dff1a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33308dff1a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33308dff1a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El juicio de Nuremberg y su posterior código establecieron principios bioéticos fundamentales para la investigación con seres humanos, destacando el consentimiento informado, la ausencia de coerción, la beneficencia y la necesidad de una experimentación científica fundamentada. </a:t>
            </a:r>
            <a:endParaRPr/>
          </a:p>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33308dff1a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33308dff1a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33308dff1a_0_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33308dff1a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s"/>
              <a:t>El m</a:t>
            </a:r>
            <a:r>
              <a:rPr b="1" lang="es"/>
              <a:t>étodo científico en la Ingeniería</a:t>
            </a:r>
            <a:endParaRPr b="1"/>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
                <a:solidFill>
                  <a:schemeClr val="dk1"/>
                </a:solidFill>
              </a:rPr>
              <a:t>Diego Robles C</a:t>
            </a:r>
            <a:endParaRPr>
              <a:solidFill>
                <a:schemeClr val="dk1"/>
              </a:solidFill>
            </a:endParaRPr>
          </a:p>
        </p:txBody>
      </p:sp>
      <p:sp>
        <p:nvSpPr>
          <p:cNvPr id="56" name="Google Shape;56;p13"/>
          <p:cNvSpPr txBox="1"/>
          <p:nvPr/>
        </p:nvSpPr>
        <p:spPr>
          <a:xfrm>
            <a:off x="813450" y="4318200"/>
            <a:ext cx="77466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s" sz="1700"/>
              <a:t>La etimología indica que “investigar” es “seguir las huellas” de un problema....</a:t>
            </a:r>
            <a:endParaRPr i="1" sz="17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938600"/>
            <a:ext cx="8520600" cy="2054100"/>
          </a:xfrm>
          <a:prstGeom prst="rect">
            <a:avLst/>
          </a:prstGeom>
        </p:spPr>
        <p:txBody>
          <a:bodyPr anchorCtr="0" anchor="ctr" bIns="91425" lIns="91425" spcFirstLastPara="1" rIns="91425" wrap="square" tIns="91425">
            <a:normAutofit fontScale="90000"/>
          </a:bodyPr>
          <a:lstStyle/>
          <a:p>
            <a:pPr indent="0" lvl="0" marL="0" rtl="0" algn="just">
              <a:spcBef>
                <a:spcPts val="0"/>
              </a:spcBef>
              <a:spcAft>
                <a:spcPts val="0"/>
              </a:spcAft>
              <a:buNone/>
            </a:pPr>
            <a:r>
              <a:rPr b="1" lang="es" sz="2650"/>
              <a:t>Objetivo</a:t>
            </a:r>
            <a:r>
              <a:rPr lang="es" sz="2650"/>
              <a:t>: </a:t>
            </a:r>
            <a:endParaRPr sz="2650"/>
          </a:p>
          <a:p>
            <a:pPr indent="0" lvl="0" marL="0" rtl="0" algn="just">
              <a:spcBef>
                <a:spcPts val="0"/>
              </a:spcBef>
              <a:spcAft>
                <a:spcPts val="0"/>
              </a:spcAft>
              <a:buNone/>
            </a:pPr>
            <a:r>
              <a:t/>
            </a:r>
            <a:endParaRPr/>
          </a:p>
          <a:p>
            <a:pPr indent="0" lvl="0" marL="0" rtl="0" algn="just">
              <a:spcBef>
                <a:spcPts val="0"/>
              </a:spcBef>
              <a:spcAft>
                <a:spcPts val="0"/>
              </a:spcAft>
              <a:buNone/>
            </a:pPr>
            <a:r>
              <a:rPr lang="es" sz="2822"/>
              <a:t>Comprender el método científico y su aplicación en la ingeniería como herramienta para la resolución de problemas y desarrollo tecnológico.</a:t>
            </a:r>
            <a:endParaRPr sz="2822"/>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t>Contenidos</a:t>
            </a:r>
            <a:endParaRPr b="1"/>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solidFill>
                  <a:schemeClr val="dk1"/>
                </a:solidFill>
              </a:rPr>
              <a:t>Formulaci</a:t>
            </a:r>
            <a:r>
              <a:rPr lang="es">
                <a:solidFill>
                  <a:schemeClr val="dk1"/>
                </a:solidFill>
              </a:rPr>
              <a:t>ón de una investigación</a:t>
            </a:r>
            <a:endParaRPr>
              <a:solidFill>
                <a:schemeClr val="dk1"/>
              </a:solidFill>
            </a:endParaRPr>
          </a:p>
          <a:p>
            <a:pPr indent="0" lvl="0" marL="0" rtl="0" algn="l">
              <a:spcBef>
                <a:spcPts val="1200"/>
              </a:spcBef>
              <a:spcAft>
                <a:spcPts val="0"/>
              </a:spcAft>
              <a:buNone/>
            </a:pPr>
            <a:r>
              <a:rPr lang="es">
                <a:solidFill>
                  <a:schemeClr val="dk1"/>
                </a:solidFill>
              </a:rPr>
              <a:t>Tipos de investigación</a:t>
            </a:r>
            <a:endParaRPr>
              <a:solidFill>
                <a:schemeClr val="dk1"/>
              </a:solidFill>
            </a:endParaRPr>
          </a:p>
          <a:p>
            <a:pPr indent="0" lvl="0" marL="0" rtl="0" algn="l">
              <a:spcBef>
                <a:spcPts val="1200"/>
              </a:spcBef>
              <a:spcAft>
                <a:spcPts val="0"/>
              </a:spcAft>
              <a:buNone/>
            </a:pPr>
            <a:r>
              <a:rPr lang="es">
                <a:solidFill>
                  <a:schemeClr val="dk1"/>
                </a:solidFill>
              </a:rPr>
              <a:t>El problema de investigación</a:t>
            </a:r>
            <a:endParaRPr>
              <a:solidFill>
                <a:schemeClr val="dk1"/>
              </a:solidFill>
            </a:endParaRPr>
          </a:p>
          <a:p>
            <a:pPr indent="0" lvl="0" marL="0" rtl="0" algn="l">
              <a:spcBef>
                <a:spcPts val="1200"/>
              </a:spcBef>
              <a:spcAft>
                <a:spcPts val="1200"/>
              </a:spcAft>
              <a:buNone/>
            </a:pPr>
            <a:r>
              <a:rPr lang="es">
                <a:solidFill>
                  <a:schemeClr val="dk1"/>
                </a:solidFill>
              </a:rPr>
              <a:t>Formulación de hipótesis</a:t>
            </a:r>
            <a:endParaRPr>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40000"/>
              </a:lnSpc>
              <a:spcBef>
                <a:spcPts val="0"/>
              </a:spcBef>
              <a:spcAft>
                <a:spcPts val="0"/>
              </a:spcAft>
              <a:buClr>
                <a:schemeClr val="dk1"/>
              </a:buClr>
              <a:buSzPct val="30985"/>
              <a:buFont typeface="Arial"/>
              <a:buNone/>
            </a:pPr>
            <a:r>
              <a:rPr b="1" lang="es" sz="3550">
                <a:solidFill>
                  <a:srgbClr val="333333"/>
                </a:solidFill>
                <a:highlight>
                  <a:srgbClr val="FFFFFF"/>
                </a:highlight>
              </a:rPr>
              <a:t>Proceso de Investigación</a:t>
            </a:r>
            <a:endParaRPr b="1" sz="3550">
              <a:solidFill>
                <a:srgbClr val="333333"/>
              </a:solidFill>
              <a:highlight>
                <a:srgbClr val="FFFFFF"/>
              </a:highlight>
            </a:endParaRPr>
          </a:p>
          <a:p>
            <a:pPr indent="0" lvl="0" marL="0" rtl="0" algn="l">
              <a:spcBef>
                <a:spcPts val="1100"/>
              </a:spcBef>
              <a:spcAft>
                <a:spcPts val="0"/>
              </a:spcAft>
              <a:buNone/>
            </a:pPr>
            <a:r>
              <a:t/>
            </a:r>
            <a:endParaRPr/>
          </a:p>
        </p:txBody>
      </p:sp>
      <p:pic>
        <p:nvPicPr>
          <p:cNvPr id="73" name="Google Shape;73;p16"/>
          <p:cNvPicPr preferRelativeResize="0"/>
          <p:nvPr/>
        </p:nvPicPr>
        <p:blipFill>
          <a:blip r:embed="rId3">
            <a:alphaModFix/>
          </a:blip>
          <a:stretch>
            <a:fillRect/>
          </a:stretch>
        </p:blipFill>
        <p:spPr>
          <a:xfrm>
            <a:off x="1942000" y="1107575"/>
            <a:ext cx="4930290" cy="38209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pic>
        <p:nvPicPr>
          <p:cNvPr id="78" name="Google Shape;78;p17"/>
          <p:cNvPicPr preferRelativeResize="0"/>
          <p:nvPr/>
        </p:nvPicPr>
        <p:blipFill>
          <a:blip r:embed="rId3">
            <a:alphaModFix/>
          </a:blip>
          <a:stretch>
            <a:fillRect/>
          </a:stretch>
        </p:blipFill>
        <p:spPr>
          <a:xfrm>
            <a:off x="1476724" y="237675"/>
            <a:ext cx="5417575" cy="482055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990"/>
              <a:buFont typeface="Arial"/>
              <a:buNone/>
            </a:pPr>
            <a:r>
              <a:rPr b="1" lang="es" sz="2520"/>
              <a:t>Tipos de investigación</a:t>
            </a:r>
            <a:endParaRPr b="1" sz="2520"/>
          </a:p>
          <a:p>
            <a:pPr indent="0" lvl="0" marL="0" rtl="0" algn="l">
              <a:spcBef>
                <a:spcPts val="1200"/>
              </a:spcBef>
              <a:spcAft>
                <a:spcPts val="0"/>
              </a:spcAft>
              <a:buSzPts val="990"/>
              <a:buNone/>
            </a:pPr>
            <a:r>
              <a:t/>
            </a:r>
            <a:endParaRPr sz="2520"/>
          </a:p>
        </p:txBody>
      </p:sp>
      <p:sp>
        <p:nvSpPr>
          <p:cNvPr id="84" name="Google Shape;84;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1200"/>
              </a:spcBef>
              <a:spcAft>
                <a:spcPts val="0"/>
              </a:spcAft>
              <a:buClr>
                <a:schemeClr val="dk1"/>
              </a:buClr>
              <a:buSzPts val="1100"/>
              <a:buFont typeface="Arial"/>
              <a:buNone/>
            </a:pPr>
            <a:r>
              <a:rPr b="1" lang="es" sz="1300">
                <a:solidFill>
                  <a:schemeClr val="dk1"/>
                </a:solidFill>
              </a:rPr>
              <a:t>¿Qué es la Investigación Cuantitativa?</a:t>
            </a:r>
            <a:endParaRPr b="1" sz="1300">
              <a:solidFill>
                <a:schemeClr val="dk1"/>
              </a:solidFill>
            </a:endParaRPr>
          </a:p>
          <a:p>
            <a:pPr indent="-311150" lvl="0" marL="457200" rtl="0" algn="l">
              <a:spcBef>
                <a:spcPts val="1200"/>
              </a:spcBef>
              <a:spcAft>
                <a:spcPts val="0"/>
              </a:spcAft>
              <a:buClr>
                <a:schemeClr val="dk1"/>
              </a:buClr>
              <a:buSzPts val="1300"/>
              <a:buChar char="●"/>
            </a:pPr>
            <a:r>
              <a:rPr lang="es" sz="1300">
                <a:solidFill>
                  <a:schemeClr val="dk1"/>
                </a:solidFill>
              </a:rPr>
              <a:t>Se basa en datos numéricos y estadísticos.</a:t>
            </a:r>
            <a:endParaRPr sz="1300">
              <a:solidFill>
                <a:schemeClr val="dk1"/>
              </a:solidFill>
            </a:endParaRPr>
          </a:p>
          <a:p>
            <a:pPr indent="-311150" lvl="0" marL="457200" rtl="0" algn="l">
              <a:spcBef>
                <a:spcPts val="0"/>
              </a:spcBef>
              <a:spcAft>
                <a:spcPts val="0"/>
              </a:spcAft>
              <a:buClr>
                <a:schemeClr val="dk1"/>
              </a:buClr>
              <a:buSzPts val="1300"/>
              <a:buChar char="●"/>
            </a:pPr>
            <a:r>
              <a:rPr lang="es" sz="1300">
                <a:solidFill>
                  <a:schemeClr val="dk1"/>
                </a:solidFill>
              </a:rPr>
              <a:t>Busca medir fenómenos de manera objetiva.</a:t>
            </a:r>
            <a:endParaRPr sz="1300">
              <a:solidFill>
                <a:schemeClr val="dk1"/>
              </a:solidFill>
            </a:endParaRPr>
          </a:p>
          <a:p>
            <a:pPr indent="-311150" lvl="0" marL="457200" rtl="0" algn="l">
              <a:spcBef>
                <a:spcPts val="0"/>
              </a:spcBef>
              <a:spcAft>
                <a:spcPts val="0"/>
              </a:spcAft>
              <a:buClr>
                <a:schemeClr val="dk1"/>
              </a:buClr>
              <a:buSzPts val="1300"/>
              <a:buChar char="●"/>
            </a:pPr>
            <a:r>
              <a:rPr lang="es" sz="1300">
                <a:solidFill>
                  <a:schemeClr val="dk1"/>
                </a:solidFill>
              </a:rPr>
              <a:t>Utiliza encuestas, experimentos, pruebas estandarizadas.</a:t>
            </a:r>
            <a:endParaRPr sz="1300">
              <a:solidFill>
                <a:schemeClr val="dk1"/>
              </a:solidFill>
            </a:endParaRPr>
          </a:p>
          <a:p>
            <a:pPr indent="-311150" lvl="0" marL="457200" rtl="0" algn="l">
              <a:spcBef>
                <a:spcPts val="0"/>
              </a:spcBef>
              <a:spcAft>
                <a:spcPts val="0"/>
              </a:spcAft>
              <a:buClr>
                <a:schemeClr val="dk1"/>
              </a:buClr>
              <a:buSzPts val="1300"/>
              <a:buChar char="●"/>
            </a:pPr>
            <a:r>
              <a:rPr lang="es" sz="1300">
                <a:solidFill>
                  <a:schemeClr val="dk1"/>
                </a:solidFill>
              </a:rPr>
              <a:t>Se apoya en análisis estadísticos para interpretar resultados.</a:t>
            </a:r>
            <a:endParaRPr sz="1300">
              <a:solidFill>
                <a:schemeClr val="dk1"/>
              </a:solidFill>
            </a:endParaRPr>
          </a:p>
          <a:p>
            <a:pPr indent="0" lvl="0" marL="0" rtl="0" algn="l">
              <a:spcBef>
                <a:spcPts val="1200"/>
              </a:spcBef>
              <a:spcAft>
                <a:spcPts val="0"/>
              </a:spcAft>
              <a:buNone/>
            </a:pPr>
            <a:r>
              <a:rPr b="1" lang="es" sz="1300">
                <a:solidFill>
                  <a:schemeClr val="dk1"/>
                </a:solidFill>
              </a:rPr>
              <a:t>¿Qué es la Investigación Cualitativa?</a:t>
            </a:r>
            <a:endParaRPr b="1" sz="1300">
              <a:solidFill>
                <a:schemeClr val="dk1"/>
              </a:solidFill>
            </a:endParaRPr>
          </a:p>
          <a:p>
            <a:pPr indent="-311150" lvl="0" marL="457200" rtl="0" algn="l">
              <a:spcBef>
                <a:spcPts val="1200"/>
              </a:spcBef>
              <a:spcAft>
                <a:spcPts val="0"/>
              </a:spcAft>
              <a:buClr>
                <a:schemeClr val="dk1"/>
              </a:buClr>
              <a:buSzPts val="1300"/>
              <a:buChar char="●"/>
            </a:pPr>
            <a:r>
              <a:rPr lang="es" sz="1300">
                <a:solidFill>
                  <a:schemeClr val="dk1"/>
                </a:solidFill>
              </a:rPr>
              <a:t>Se basa en descripciones y observaciones detalladas.</a:t>
            </a:r>
            <a:endParaRPr sz="1300">
              <a:solidFill>
                <a:schemeClr val="dk1"/>
              </a:solidFill>
            </a:endParaRPr>
          </a:p>
          <a:p>
            <a:pPr indent="-311150" lvl="0" marL="457200" rtl="0" algn="l">
              <a:spcBef>
                <a:spcPts val="0"/>
              </a:spcBef>
              <a:spcAft>
                <a:spcPts val="0"/>
              </a:spcAft>
              <a:buClr>
                <a:schemeClr val="dk1"/>
              </a:buClr>
              <a:buSzPts val="1300"/>
              <a:buChar char="●"/>
            </a:pPr>
            <a:r>
              <a:rPr lang="es" sz="1300">
                <a:solidFill>
                  <a:schemeClr val="dk1"/>
                </a:solidFill>
              </a:rPr>
              <a:t>Analiza percepciones, experiencias y significados.</a:t>
            </a:r>
            <a:endParaRPr sz="1300">
              <a:solidFill>
                <a:schemeClr val="dk1"/>
              </a:solidFill>
            </a:endParaRPr>
          </a:p>
          <a:p>
            <a:pPr indent="-311150" lvl="0" marL="457200" rtl="0" algn="l">
              <a:spcBef>
                <a:spcPts val="0"/>
              </a:spcBef>
              <a:spcAft>
                <a:spcPts val="0"/>
              </a:spcAft>
              <a:buClr>
                <a:schemeClr val="dk1"/>
              </a:buClr>
              <a:buSzPts val="1300"/>
              <a:buChar char="●"/>
            </a:pPr>
            <a:r>
              <a:rPr lang="es" sz="1300">
                <a:solidFill>
                  <a:schemeClr val="dk1"/>
                </a:solidFill>
              </a:rPr>
              <a:t>Utiliza entrevistas, observación participante y análisis de contenido.</a:t>
            </a:r>
            <a:endParaRPr sz="1300">
              <a:solidFill>
                <a:schemeClr val="dk1"/>
              </a:solidFill>
            </a:endParaRPr>
          </a:p>
          <a:p>
            <a:pPr indent="-311150" lvl="0" marL="457200" rtl="0" algn="l">
              <a:spcBef>
                <a:spcPts val="0"/>
              </a:spcBef>
              <a:spcAft>
                <a:spcPts val="0"/>
              </a:spcAft>
              <a:buClr>
                <a:schemeClr val="dk1"/>
              </a:buClr>
              <a:buSzPts val="1300"/>
              <a:buChar char="●"/>
            </a:pPr>
            <a:r>
              <a:rPr lang="es" sz="1300">
                <a:solidFill>
                  <a:schemeClr val="dk1"/>
                </a:solidFill>
              </a:rPr>
              <a:t>No busca generalizar, sino comprender a fondo un fenómeno.</a:t>
            </a:r>
            <a:endParaRPr sz="1300">
              <a:solidFill>
                <a:schemeClr val="dk1"/>
              </a:solidFill>
            </a:endParaRPr>
          </a:p>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200"/>
              </a:spcAft>
              <a:buNone/>
            </a:pPr>
            <a:r>
              <a:rPr b="1" lang="es" sz="2100"/>
              <a:t>Diferencias Claves entre Investigación Cuantitativa y Cualitativa</a:t>
            </a:r>
            <a:endParaRPr sz="2100"/>
          </a:p>
        </p:txBody>
      </p:sp>
      <p:pic>
        <p:nvPicPr>
          <p:cNvPr id="90" name="Google Shape;90;p19"/>
          <p:cNvPicPr preferRelativeResize="0"/>
          <p:nvPr/>
        </p:nvPicPr>
        <p:blipFill>
          <a:blip r:embed="rId3">
            <a:alphaModFix/>
          </a:blip>
          <a:stretch>
            <a:fillRect/>
          </a:stretch>
        </p:blipFill>
        <p:spPr>
          <a:xfrm>
            <a:off x="120975" y="1263975"/>
            <a:ext cx="8887376" cy="32216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Clr>
                <a:schemeClr val="dk1"/>
              </a:buClr>
              <a:buSzPts val="1100"/>
              <a:buFont typeface="Arial"/>
              <a:buNone/>
            </a:pPr>
            <a:r>
              <a:rPr b="1" lang="es" sz="2400"/>
              <a:t>¿Qué es el Método Científico?</a:t>
            </a:r>
            <a:endParaRPr b="1" sz="2400"/>
          </a:p>
        </p:txBody>
      </p:sp>
      <p:sp>
        <p:nvSpPr>
          <p:cNvPr id="96" name="Google Shape;96;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s">
                <a:solidFill>
                  <a:schemeClr val="dk1"/>
                </a:solidFill>
              </a:rPr>
              <a:t>"Proceso sistemático para generar conocimiento y resolver problemas basado en la observación, experimentación y análisis de datos."</a:t>
            </a:r>
            <a:endParaRPr>
              <a:solidFill>
                <a:schemeClr val="dk1"/>
              </a:solidFill>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Clr>
                <a:schemeClr val="dk1"/>
              </a:buClr>
              <a:buSzPts val="1100"/>
              <a:buFont typeface="Arial"/>
              <a:buNone/>
            </a:pPr>
            <a:r>
              <a:rPr b="1" lang="es" sz="2400"/>
              <a:t>Ciencia, Tecnología e Ingeniería</a:t>
            </a:r>
            <a:endParaRPr b="1" sz="2400"/>
          </a:p>
        </p:txBody>
      </p:sp>
      <p:sp>
        <p:nvSpPr>
          <p:cNvPr id="102" name="Google Shape;102;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s" sz="1600">
                <a:solidFill>
                  <a:schemeClr val="dk1"/>
                </a:solidFill>
              </a:rPr>
              <a:t>Ciencia:</a:t>
            </a:r>
            <a:r>
              <a:rPr lang="es" sz="1600">
                <a:solidFill>
                  <a:schemeClr val="dk1"/>
                </a:solidFill>
              </a:rPr>
              <a:t> Descubrimiento de principios fundamentales.</a:t>
            </a:r>
            <a:endParaRPr sz="1600">
              <a:solidFill>
                <a:schemeClr val="dk1"/>
              </a:solidFill>
            </a:endParaRPr>
          </a:p>
          <a:p>
            <a:pPr indent="0" lvl="0" marL="0" rtl="0" algn="l">
              <a:spcBef>
                <a:spcPts val="1200"/>
              </a:spcBef>
              <a:spcAft>
                <a:spcPts val="0"/>
              </a:spcAft>
              <a:buClr>
                <a:schemeClr val="dk1"/>
              </a:buClr>
              <a:buSzPts val="1100"/>
              <a:buFont typeface="Arial"/>
              <a:buNone/>
            </a:pPr>
            <a:r>
              <a:rPr b="1" lang="es" sz="1600">
                <a:solidFill>
                  <a:schemeClr val="dk1"/>
                </a:solidFill>
              </a:rPr>
              <a:t>Tecnología:</a:t>
            </a:r>
            <a:r>
              <a:rPr lang="es" sz="1600">
                <a:solidFill>
                  <a:schemeClr val="dk1"/>
                </a:solidFill>
              </a:rPr>
              <a:t> Aplicación del conocimiento científico para crear herramientas y sistemas.</a:t>
            </a:r>
            <a:endParaRPr sz="1600">
              <a:solidFill>
                <a:schemeClr val="dk1"/>
              </a:solidFill>
            </a:endParaRPr>
          </a:p>
          <a:p>
            <a:pPr indent="0" lvl="0" marL="0" rtl="0" algn="l">
              <a:spcBef>
                <a:spcPts val="1200"/>
              </a:spcBef>
              <a:spcAft>
                <a:spcPts val="0"/>
              </a:spcAft>
              <a:buClr>
                <a:schemeClr val="dk1"/>
              </a:buClr>
              <a:buSzPts val="1100"/>
              <a:buFont typeface="Arial"/>
              <a:buNone/>
            </a:pPr>
            <a:r>
              <a:rPr b="1" lang="es" sz="1600">
                <a:solidFill>
                  <a:schemeClr val="dk1"/>
                </a:solidFill>
              </a:rPr>
              <a:t>Ingeniería:</a:t>
            </a:r>
            <a:r>
              <a:rPr lang="es" sz="1600">
                <a:solidFill>
                  <a:schemeClr val="dk1"/>
                </a:solidFill>
              </a:rPr>
              <a:t> Diseño y construcción de soluciones prácticas basadas en ciencia y tecnología.</a:t>
            </a:r>
            <a:endParaRPr sz="16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t>Etapas del Método Científico</a:t>
            </a:r>
            <a:endParaRPr b="1"/>
          </a:p>
        </p:txBody>
      </p:sp>
      <p:sp>
        <p:nvSpPr>
          <p:cNvPr id="108" name="Google Shape;108;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s" sz="1500">
                <a:solidFill>
                  <a:schemeClr val="dk1"/>
                </a:solidFill>
              </a:rPr>
              <a:t>1. Observación</a:t>
            </a:r>
            <a:endParaRPr sz="1500">
              <a:solidFill>
                <a:schemeClr val="dk1"/>
              </a:solidFill>
            </a:endParaRPr>
          </a:p>
          <a:p>
            <a:pPr indent="0" lvl="0" marL="0" rtl="0" algn="l">
              <a:spcBef>
                <a:spcPts val="1200"/>
              </a:spcBef>
              <a:spcAft>
                <a:spcPts val="0"/>
              </a:spcAft>
              <a:buClr>
                <a:schemeClr val="dk1"/>
              </a:buClr>
              <a:buSzPts val="1100"/>
              <a:buFont typeface="Arial"/>
              <a:buNone/>
            </a:pPr>
            <a:r>
              <a:rPr lang="es" sz="1500">
                <a:solidFill>
                  <a:schemeClr val="dk1"/>
                </a:solidFill>
              </a:rPr>
              <a:t>2. Planteamiento del problema</a:t>
            </a:r>
            <a:endParaRPr sz="1500">
              <a:solidFill>
                <a:schemeClr val="dk1"/>
              </a:solidFill>
            </a:endParaRPr>
          </a:p>
          <a:p>
            <a:pPr indent="0" lvl="0" marL="0" rtl="0" algn="l">
              <a:spcBef>
                <a:spcPts val="1200"/>
              </a:spcBef>
              <a:spcAft>
                <a:spcPts val="0"/>
              </a:spcAft>
              <a:buClr>
                <a:schemeClr val="dk1"/>
              </a:buClr>
              <a:buSzPts val="1100"/>
              <a:buFont typeface="Arial"/>
              <a:buNone/>
            </a:pPr>
            <a:r>
              <a:rPr lang="es" sz="1500">
                <a:solidFill>
                  <a:srgbClr val="FF0000"/>
                </a:solidFill>
              </a:rPr>
              <a:t>3. Hipótesis</a:t>
            </a:r>
            <a:endParaRPr sz="1500">
              <a:solidFill>
                <a:srgbClr val="FF0000"/>
              </a:solidFill>
            </a:endParaRPr>
          </a:p>
          <a:p>
            <a:pPr indent="0" lvl="0" marL="0" rtl="0" algn="l">
              <a:spcBef>
                <a:spcPts val="1200"/>
              </a:spcBef>
              <a:spcAft>
                <a:spcPts val="0"/>
              </a:spcAft>
              <a:buClr>
                <a:schemeClr val="dk1"/>
              </a:buClr>
              <a:buSzPts val="1100"/>
              <a:buFont typeface="Arial"/>
              <a:buNone/>
            </a:pPr>
            <a:r>
              <a:rPr lang="es" sz="1500">
                <a:solidFill>
                  <a:schemeClr val="dk1"/>
                </a:solidFill>
              </a:rPr>
              <a:t>4. Experimentación</a:t>
            </a:r>
            <a:endParaRPr sz="1500">
              <a:solidFill>
                <a:schemeClr val="dk1"/>
              </a:solidFill>
            </a:endParaRPr>
          </a:p>
          <a:p>
            <a:pPr indent="0" lvl="0" marL="0" rtl="0" algn="l">
              <a:spcBef>
                <a:spcPts val="1200"/>
              </a:spcBef>
              <a:spcAft>
                <a:spcPts val="0"/>
              </a:spcAft>
              <a:buClr>
                <a:schemeClr val="dk1"/>
              </a:buClr>
              <a:buSzPts val="1100"/>
              <a:buFont typeface="Arial"/>
              <a:buNone/>
            </a:pPr>
            <a:r>
              <a:rPr b="1" lang="es" sz="1500">
                <a:solidFill>
                  <a:schemeClr val="dk1"/>
                </a:solidFill>
              </a:rPr>
              <a:t>5. Análisis de datos</a:t>
            </a:r>
            <a:endParaRPr b="1" sz="1500">
              <a:solidFill>
                <a:schemeClr val="dk1"/>
              </a:solidFill>
            </a:endParaRPr>
          </a:p>
          <a:p>
            <a:pPr indent="0" lvl="0" marL="0" rtl="0" algn="l">
              <a:spcBef>
                <a:spcPts val="1200"/>
              </a:spcBef>
              <a:spcAft>
                <a:spcPts val="0"/>
              </a:spcAft>
              <a:buClr>
                <a:schemeClr val="dk1"/>
              </a:buClr>
              <a:buSzPts val="1100"/>
              <a:buFont typeface="Arial"/>
              <a:buNone/>
            </a:pPr>
            <a:r>
              <a:rPr lang="es" sz="1500">
                <a:solidFill>
                  <a:schemeClr val="dk1"/>
                </a:solidFill>
              </a:rPr>
              <a:t>6. Conclusiones</a:t>
            </a:r>
            <a:endParaRPr sz="1500">
              <a:solidFill>
                <a:schemeClr val="dk1"/>
              </a:solidFill>
            </a:endParaRPr>
          </a:p>
          <a:p>
            <a:pPr indent="0" lvl="0" marL="0" rtl="0" algn="l">
              <a:spcBef>
                <a:spcPts val="1200"/>
              </a:spcBef>
              <a:spcAft>
                <a:spcPts val="0"/>
              </a:spcAft>
              <a:buClr>
                <a:schemeClr val="dk1"/>
              </a:buClr>
              <a:buSzPts val="1100"/>
              <a:buFont typeface="Arial"/>
              <a:buNone/>
            </a:pPr>
            <a:r>
              <a:rPr lang="es" sz="1500">
                <a:solidFill>
                  <a:schemeClr val="dk1"/>
                </a:solidFill>
              </a:rPr>
              <a:t>7. Comunicación de resultados</a:t>
            </a:r>
            <a:endParaRPr sz="15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3"/>
          <p:cNvSpPr txBox="1"/>
          <p:nvPr>
            <p:ph type="title"/>
          </p:nvPr>
        </p:nvSpPr>
        <p:spPr>
          <a:xfrm>
            <a:off x="311700" y="357400"/>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1400"/>
              </a:spcBef>
              <a:spcAft>
                <a:spcPts val="400"/>
              </a:spcAft>
              <a:buClr>
                <a:schemeClr val="dk1"/>
              </a:buClr>
              <a:buSzPts val="1100"/>
              <a:buFont typeface="Arial"/>
              <a:buNone/>
            </a:pPr>
            <a:r>
              <a:rPr b="1" lang="es" sz="2400"/>
              <a:t>Etapas del Método Tecnológico</a:t>
            </a:r>
            <a:endParaRPr sz="2400"/>
          </a:p>
        </p:txBody>
      </p:sp>
      <p:sp>
        <p:nvSpPr>
          <p:cNvPr id="114" name="Google Shape;114;p23"/>
          <p:cNvSpPr txBox="1"/>
          <p:nvPr>
            <p:ph idx="1" type="body"/>
          </p:nvPr>
        </p:nvSpPr>
        <p:spPr>
          <a:xfrm>
            <a:off x="311700" y="1343075"/>
            <a:ext cx="8520600" cy="4501200"/>
          </a:xfrm>
          <a:prstGeom prst="rect">
            <a:avLst/>
          </a:prstGeom>
        </p:spPr>
        <p:txBody>
          <a:bodyPr anchorCtr="0" anchor="t" bIns="91425" lIns="91425" spcFirstLastPara="1" rIns="91425" wrap="square" tIns="91425">
            <a:normAutofit/>
          </a:bodyPr>
          <a:lstStyle/>
          <a:p>
            <a:pPr indent="-342900" lvl="0" marL="457200" rtl="0" algn="l">
              <a:spcBef>
                <a:spcPts val="1200"/>
              </a:spcBef>
              <a:spcAft>
                <a:spcPts val="0"/>
              </a:spcAft>
              <a:buClr>
                <a:schemeClr val="dk1"/>
              </a:buClr>
              <a:buSzPts val="1800"/>
              <a:buAutoNum type="arabicPeriod"/>
            </a:pPr>
            <a:r>
              <a:rPr lang="es">
                <a:solidFill>
                  <a:schemeClr val="dk1"/>
                </a:solidFill>
              </a:rPr>
              <a:t>Identificación del problema</a:t>
            </a:r>
            <a:r>
              <a:rPr lang="es" sz="1400">
                <a:solidFill>
                  <a:schemeClr val="dk1"/>
                </a:solidFill>
              </a:rPr>
              <a:t> (</a:t>
            </a:r>
            <a:r>
              <a:rPr lang="es" sz="1400">
                <a:solidFill>
                  <a:schemeClr val="dk1"/>
                </a:solidFill>
              </a:rPr>
              <a:t>necesidad)</a:t>
            </a:r>
            <a:endParaRPr sz="1400">
              <a:solidFill>
                <a:schemeClr val="dk1"/>
              </a:solidFill>
            </a:endParaRPr>
          </a:p>
          <a:p>
            <a:pPr indent="-342900" lvl="0" marL="457200" rtl="0" algn="l">
              <a:spcBef>
                <a:spcPts val="0"/>
              </a:spcBef>
              <a:spcAft>
                <a:spcPts val="0"/>
              </a:spcAft>
              <a:buClr>
                <a:schemeClr val="dk1"/>
              </a:buClr>
              <a:buSzPts val="1800"/>
              <a:buAutoNum type="arabicPeriod"/>
            </a:pPr>
            <a:r>
              <a:rPr lang="es">
                <a:solidFill>
                  <a:schemeClr val="dk1"/>
                </a:solidFill>
              </a:rPr>
              <a:t>Búsqueda de información y análisis </a:t>
            </a:r>
            <a:r>
              <a:rPr lang="es" sz="1400">
                <a:solidFill>
                  <a:schemeClr val="dk1"/>
                </a:solidFill>
              </a:rPr>
              <a:t>(</a:t>
            </a:r>
            <a:r>
              <a:rPr lang="es" sz="1400">
                <a:solidFill>
                  <a:schemeClr val="dk1"/>
                </a:solidFill>
              </a:rPr>
              <a:t>soluciones existentes)</a:t>
            </a:r>
            <a:endParaRPr sz="1400">
              <a:solidFill>
                <a:schemeClr val="dk1"/>
              </a:solidFill>
            </a:endParaRPr>
          </a:p>
          <a:p>
            <a:pPr indent="-342900" lvl="0" marL="457200" rtl="0" algn="l">
              <a:spcBef>
                <a:spcPts val="0"/>
              </a:spcBef>
              <a:spcAft>
                <a:spcPts val="0"/>
              </a:spcAft>
              <a:buClr>
                <a:schemeClr val="dk1"/>
              </a:buClr>
              <a:buSzPts val="1800"/>
              <a:buAutoNum type="arabicPeriod"/>
            </a:pPr>
            <a:r>
              <a:rPr lang="es">
                <a:solidFill>
                  <a:schemeClr val="dk1"/>
                </a:solidFill>
              </a:rPr>
              <a:t>Diseño y planificación de la solución </a:t>
            </a:r>
            <a:r>
              <a:rPr lang="es" sz="1400">
                <a:solidFill>
                  <a:schemeClr val="dk1"/>
                </a:solidFill>
              </a:rPr>
              <a:t>(</a:t>
            </a:r>
            <a:r>
              <a:rPr lang="es" sz="1400">
                <a:solidFill>
                  <a:schemeClr val="dk1"/>
                </a:solidFill>
              </a:rPr>
              <a:t>Se proponen diferentes alternativas)</a:t>
            </a:r>
            <a:endParaRPr sz="1400">
              <a:solidFill>
                <a:schemeClr val="dk1"/>
              </a:solidFill>
            </a:endParaRPr>
          </a:p>
          <a:p>
            <a:pPr indent="-342900" lvl="0" marL="457200" rtl="0" algn="l">
              <a:spcBef>
                <a:spcPts val="0"/>
              </a:spcBef>
              <a:spcAft>
                <a:spcPts val="0"/>
              </a:spcAft>
              <a:buClr>
                <a:schemeClr val="dk1"/>
              </a:buClr>
              <a:buSzPts val="1800"/>
              <a:buAutoNum type="arabicPeriod"/>
            </a:pPr>
            <a:r>
              <a:rPr lang="es">
                <a:solidFill>
                  <a:schemeClr val="dk1"/>
                </a:solidFill>
              </a:rPr>
              <a:t>Construcción o implementación del prototipo </a:t>
            </a:r>
            <a:r>
              <a:rPr lang="es" sz="1400">
                <a:solidFill>
                  <a:schemeClr val="dk1"/>
                </a:solidFill>
              </a:rPr>
              <a:t>(</a:t>
            </a:r>
            <a:r>
              <a:rPr lang="es" sz="1400">
                <a:solidFill>
                  <a:schemeClr val="dk1"/>
                </a:solidFill>
              </a:rPr>
              <a:t>modelo funcional o prototipo físico/software)</a:t>
            </a:r>
            <a:endParaRPr sz="1400">
              <a:solidFill>
                <a:schemeClr val="dk1"/>
              </a:solidFill>
            </a:endParaRPr>
          </a:p>
          <a:p>
            <a:pPr indent="-342900" lvl="0" marL="457200" rtl="0" algn="l">
              <a:spcBef>
                <a:spcPts val="0"/>
              </a:spcBef>
              <a:spcAft>
                <a:spcPts val="0"/>
              </a:spcAft>
              <a:buClr>
                <a:schemeClr val="dk1"/>
              </a:buClr>
              <a:buSzPts val="1800"/>
              <a:buAutoNum type="arabicPeriod"/>
            </a:pPr>
            <a:r>
              <a:rPr lang="es">
                <a:solidFill>
                  <a:schemeClr val="dk1"/>
                </a:solidFill>
              </a:rPr>
              <a:t>Evaluación y pruebas </a:t>
            </a:r>
            <a:r>
              <a:rPr lang="es" sz="1400">
                <a:solidFill>
                  <a:schemeClr val="dk1"/>
                </a:solidFill>
              </a:rPr>
              <a:t>(</a:t>
            </a:r>
            <a:r>
              <a:rPr lang="es" sz="1400">
                <a:solidFill>
                  <a:schemeClr val="dk1"/>
                </a:solidFill>
              </a:rPr>
              <a:t>calidad, resistencia y desempeño)</a:t>
            </a:r>
            <a:endParaRPr sz="1400">
              <a:solidFill>
                <a:schemeClr val="dk1"/>
              </a:solidFill>
            </a:endParaRPr>
          </a:p>
          <a:p>
            <a:pPr indent="-342900" lvl="0" marL="457200" rtl="0" algn="l">
              <a:spcBef>
                <a:spcPts val="0"/>
              </a:spcBef>
              <a:spcAft>
                <a:spcPts val="0"/>
              </a:spcAft>
              <a:buClr>
                <a:schemeClr val="dk1"/>
              </a:buClr>
              <a:buSzPts val="1800"/>
              <a:buAutoNum type="arabicPeriod"/>
            </a:pPr>
            <a:r>
              <a:rPr lang="es">
                <a:solidFill>
                  <a:schemeClr val="dk1"/>
                </a:solidFill>
              </a:rPr>
              <a:t>Optimización y mejoras </a:t>
            </a:r>
            <a:r>
              <a:rPr lang="es" sz="1400">
                <a:solidFill>
                  <a:schemeClr val="dk1"/>
                </a:solidFill>
              </a:rPr>
              <a:t>(</a:t>
            </a:r>
            <a:r>
              <a:rPr lang="es" sz="1400">
                <a:solidFill>
                  <a:schemeClr val="dk1"/>
                </a:solidFill>
              </a:rPr>
              <a:t>eficiencia y reducir costos)</a:t>
            </a:r>
            <a:endParaRPr sz="1400">
              <a:solidFill>
                <a:schemeClr val="dk1"/>
              </a:solidFill>
            </a:endParaRPr>
          </a:p>
          <a:p>
            <a:pPr indent="-342900" lvl="0" marL="457200" rtl="0" algn="l">
              <a:spcBef>
                <a:spcPts val="0"/>
              </a:spcBef>
              <a:spcAft>
                <a:spcPts val="0"/>
              </a:spcAft>
              <a:buClr>
                <a:schemeClr val="dk1"/>
              </a:buClr>
              <a:buSzPts val="1800"/>
              <a:buAutoNum type="arabicPeriod"/>
            </a:pPr>
            <a:r>
              <a:rPr lang="es">
                <a:solidFill>
                  <a:schemeClr val="dk1"/>
                </a:solidFill>
              </a:rPr>
              <a:t>Producción y distribución </a:t>
            </a:r>
            <a:r>
              <a:rPr lang="es" sz="1400">
                <a:solidFill>
                  <a:schemeClr val="dk1"/>
                </a:solidFill>
              </a:rPr>
              <a:t>(</a:t>
            </a:r>
            <a:r>
              <a:rPr lang="es" sz="1400">
                <a:solidFill>
                  <a:schemeClr val="dk1"/>
                </a:solidFill>
              </a:rPr>
              <a:t>fase de producción en serie)</a:t>
            </a:r>
            <a:endParaRPr sz="1400">
              <a:solidFill>
                <a:schemeClr val="dk1"/>
              </a:solidFill>
            </a:endParaRPr>
          </a:p>
          <a:p>
            <a:pPr indent="-342900" lvl="0" marL="457200" rtl="0" algn="l">
              <a:spcBef>
                <a:spcPts val="0"/>
              </a:spcBef>
              <a:spcAft>
                <a:spcPts val="0"/>
              </a:spcAft>
              <a:buClr>
                <a:schemeClr val="dk1"/>
              </a:buClr>
              <a:buSzPts val="1800"/>
              <a:buAutoNum type="arabicPeriod"/>
            </a:pPr>
            <a:r>
              <a:rPr lang="es">
                <a:solidFill>
                  <a:schemeClr val="dk1"/>
                </a:solidFill>
              </a:rPr>
              <a:t>Mantenimiento y evolución tecnológica </a:t>
            </a:r>
            <a:r>
              <a:rPr lang="es" sz="1400">
                <a:solidFill>
                  <a:schemeClr val="dk1"/>
                </a:solidFill>
              </a:rPr>
              <a:t>(</a:t>
            </a:r>
            <a:r>
              <a:rPr lang="es" sz="1400">
                <a:solidFill>
                  <a:schemeClr val="dk1"/>
                </a:solidFill>
              </a:rPr>
              <a:t>producto en el mercado)</a:t>
            </a:r>
            <a:endParaRPr sz="14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p24"/>
          <p:cNvPicPr preferRelativeResize="0"/>
          <p:nvPr/>
        </p:nvPicPr>
        <p:blipFill>
          <a:blip r:embed="rId3">
            <a:alphaModFix/>
          </a:blip>
          <a:stretch>
            <a:fillRect/>
          </a:stretch>
        </p:blipFill>
        <p:spPr>
          <a:xfrm>
            <a:off x="612413" y="209900"/>
            <a:ext cx="7919177" cy="48272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t>Ideas de investigaci</a:t>
            </a:r>
            <a:r>
              <a:rPr b="1" lang="es"/>
              <a:t>ón</a:t>
            </a:r>
            <a:r>
              <a:rPr b="1" lang="es"/>
              <a:t> </a:t>
            </a:r>
            <a:endParaRPr b="1"/>
          </a:p>
        </p:txBody>
      </p:sp>
      <p:sp>
        <p:nvSpPr>
          <p:cNvPr id="125" name="Google Shape;125;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solidFill>
                  <a:schemeClr val="dk1"/>
                </a:solidFill>
              </a:rPr>
              <a:t>Vaguedad de las ideas iniciales y necesidad de conocer los antecedentes.</a:t>
            </a:r>
            <a:endParaRPr>
              <a:solidFill>
                <a:schemeClr val="dk1"/>
              </a:solidFill>
            </a:endParaRPr>
          </a:p>
          <a:p>
            <a:pPr indent="0" lvl="0" marL="0" rtl="0" algn="l">
              <a:spcBef>
                <a:spcPts val="1200"/>
              </a:spcBef>
              <a:spcAft>
                <a:spcPts val="0"/>
              </a:spcAft>
              <a:buNone/>
            </a:pPr>
            <a:r>
              <a:t/>
            </a:r>
            <a:endParaRPr>
              <a:solidFill>
                <a:schemeClr val="dk1"/>
              </a:solidFill>
            </a:endParaRPr>
          </a:p>
          <a:p>
            <a:pPr indent="-342900" lvl="0" marL="457200" rtl="0" algn="l">
              <a:spcBef>
                <a:spcPts val="1200"/>
              </a:spcBef>
              <a:spcAft>
                <a:spcPts val="0"/>
              </a:spcAft>
              <a:buClr>
                <a:schemeClr val="dk1"/>
              </a:buClr>
              <a:buSzPts val="1800"/>
              <a:buChar char="●"/>
            </a:pPr>
            <a:r>
              <a:rPr lang="es">
                <a:solidFill>
                  <a:schemeClr val="dk1"/>
                </a:solidFill>
              </a:rPr>
              <a:t>Las buenas ideas intrigan, alientan y apasionan al investigador.</a:t>
            </a:r>
            <a:endParaRPr>
              <a:solidFill>
                <a:schemeClr val="dk1"/>
              </a:solidFill>
            </a:endParaRPr>
          </a:p>
          <a:p>
            <a:pPr indent="-342900" lvl="0" marL="457200" rtl="0" algn="l">
              <a:spcBef>
                <a:spcPts val="0"/>
              </a:spcBef>
              <a:spcAft>
                <a:spcPts val="0"/>
              </a:spcAft>
              <a:buClr>
                <a:schemeClr val="dk1"/>
              </a:buClr>
              <a:buSzPts val="1800"/>
              <a:buChar char="●"/>
            </a:pPr>
            <a:r>
              <a:rPr lang="es">
                <a:solidFill>
                  <a:schemeClr val="dk1"/>
                </a:solidFill>
              </a:rPr>
              <a:t>Las buenas ideas no son siempre nuevas, pero sí novedosas.</a:t>
            </a:r>
            <a:endParaRPr>
              <a:solidFill>
                <a:schemeClr val="dk1"/>
              </a:solidFill>
            </a:endParaRPr>
          </a:p>
          <a:p>
            <a:pPr indent="-342900" lvl="0" marL="457200" rtl="0" algn="l">
              <a:spcBef>
                <a:spcPts val="0"/>
              </a:spcBef>
              <a:spcAft>
                <a:spcPts val="0"/>
              </a:spcAft>
              <a:buClr>
                <a:schemeClr val="dk1"/>
              </a:buClr>
              <a:buSzPts val="1800"/>
              <a:buChar char="●"/>
            </a:pPr>
            <a:r>
              <a:rPr lang="es">
                <a:solidFill>
                  <a:schemeClr val="dk1"/>
                </a:solidFill>
              </a:rPr>
              <a:t>Las buenas ideas son útiles (pueden conducir a elaborar teorías o bien, a resolver problemas).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6"/>
          <p:cNvSpPr txBox="1"/>
          <p:nvPr>
            <p:ph type="title"/>
          </p:nvPr>
        </p:nvSpPr>
        <p:spPr>
          <a:xfrm>
            <a:off x="311700" y="2094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t>S</a:t>
            </a:r>
            <a:r>
              <a:rPr b="1" lang="es"/>
              <a:t>igla FINER para valorar una idea de investigación</a:t>
            </a:r>
            <a:endParaRPr b="1"/>
          </a:p>
        </p:txBody>
      </p:sp>
      <p:pic>
        <p:nvPicPr>
          <p:cNvPr id="131" name="Google Shape;131;p26"/>
          <p:cNvPicPr preferRelativeResize="0"/>
          <p:nvPr/>
        </p:nvPicPr>
        <p:blipFill>
          <a:blip r:embed="rId3">
            <a:alphaModFix/>
          </a:blip>
          <a:stretch>
            <a:fillRect/>
          </a:stretch>
        </p:blipFill>
        <p:spPr>
          <a:xfrm>
            <a:off x="865750" y="846975"/>
            <a:ext cx="6552224" cy="405652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t>El problema</a:t>
            </a:r>
            <a:endParaRPr b="1"/>
          </a:p>
        </p:txBody>
      </p:sp>
      <p:sp>
        <p:nvSpPr>
          <p:cNvPr id="137" name="Google Shape;137;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17500" lvl="0" marL="457200" rtl="0" algn="l">
              <a:spcBef>
                <a:spcPts val="1200"/>
              </a:spcBef>
              <a:spcAft>
                <a:spcPts val="0"/>
              </a:spcAft>
              <a:buClr>
                <a:schemeClr val="dk1"/>
              </a:buClr>
              <a:buSzPts val="1400"/>
              <a:buChar char="●"/>
            </a:pPr>
            <a:r>
              <a:rPr lang="es" sz="1400">
                <a:solidFill>
                  <a:schemeClr val="dk1"/>
                </a:solidFill>
              </a:rPr>
              <a:t>Es una situación no resuelta dentro de un campo del conocimiento que requiere estudio sistemático. </a:t>
            </a:r>
            <a:r>
              <a:rPr lang="es" sz="1400">
                <a:solidFill>
                  <a:schemeClr val="dk1"/>
                </a:solidFill>
              </a:rPr>
              <a:t>En un sentido general, un problema es una pregunta que establece una situación que requiere discusión, investigación, o una solución.</a:t>
            </a:r>
            <a:endParaRPr sz="1400">
              <a:solidFill>
                <a:schemeClr val="dk1"/>
              </a:solidFill>
            </a:endParaRPr>
          </a:p>
          <a:p>
            <a:pPr indent="-317500" lvl="0" marL="457200" rtl="0" algn="l">
              <a:spcBef>
                <a:spcPts val="0"/>
              </a:spcBef>
              <a:spcAft>
                <a:spcPts val="0"/>
              </a:spcAft>
              <a:buClr>
                <a:schemeClr val="dk1"/>
              </a:buClr>
              <a:buSzPts val="1400"/>
              <a:buChar char="●"/>
            </a:pPr>
            <a:r>
              <a:rPr lang="es" sz="1400">
                <a:solidFill>
                  <a:schemeClr val="dk1"/>
                </a:solidFill>
              </a:rPr>
              <a:t>Define el </a:t>
            </a:r>
            <a:r>
              <a:rPr b="1" lang="es" sz="1400">
                <a:solidFill>
                  <a:schemeClr val="dk1"/>
                </a:solidFill>
              </a:rPr>
              <a:t>propósito</a:t>
            </a:r>
            <a:r>
              <a:rPr lang="es" sz="1400">
                <a:solidFill>
                  <a:schemeClr val="dk1"/>
                </a:solidFill>
              </a:rPr>
              <a:t> y la </a:t>
            </a:r>
            <a:r>
              <a:rPr b="1" lang="es" sz="1400">
                <a:solidFill>
                  <a:schemeClr val="dk1"/>
                </a:solidFill>
              </a:rPr>
              <a:t>dirección</a:t>
            </a:r>
            <a:r>
              <a:rPr lang="es" sz="1400">
                <a:solidFill>
                  <a:schemeClr val="dk1"/>
                </a:solidFill>
              </a:rPr>
              <a:t> de la investigación.</a:t>
            </a:r>
            <a:endParaRPr sz="1400">
              <a:solidFill>
                <a:schemeClr val="dk1"/>
              </a:solidFill>
            </a:endParaRPr>
          </a:p>
          <a:p>
            <a:pPr indent="0" lvl="0" marL="0" rtl="0" algn="l">
              <a:spcBef>
                <a:spcPts val="1200"/>
              </a:spcBef>
              <a:spcAft>
                <a:spcPts val="1200"/>
              </a:spcAft>
              <a:buNone/>
            </a:pPr>
            <a:r>
              <a:t/>
            </a:r>
            <a:endParaRPr sz="14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t>Redacción del</a:t>
            </a:r>
            <a:r>
              <a:rPr b="1" lang="es"/>
              <a:t> problema de investigaci</a:t>
            </a:r>
            <a:r>
              <a:rPr b="1" lang="es"/>
              <a:t>ón. </a:t>
            </a:r>
            <a:endParaRPr b="1"/>
          </a:p>
        </p:txBody>
      </p:sp>
      <p:sp>
        <p:nvSpPr>
          <p:cNvPr id="143" name="Google Shape;143;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just">
              <a:spcBef>
                <a:spcPts val="0"/>
              </a:spcBef>
              <a:spcAft>
                <a:spcPts val="0"/>
              </a:spcAft>
              <a:buClr>
                <a:schemeClr val="dk1"/>
              </a:buClr>
              <a:buSzPts val="1800"/>
              <a:buChar char="●"/>
            </a:pPr>
            <a:r>
              <a:rPr b="1" lang="es">
                <a:solidFill>
                  <a:schemeClr val="dk1"/>
                </a:solidFill>
              </a:rPr>
              <a:t>Levantamiento de un marco te</a:t>
            </a:r>
            <a:r>
              <a:rPr b="1" lang="es">
                <a:solidFill>
                  <a:schemeClr val="dk1"/>
                </a:solidFill>
              </a:rPr>
              <a:t>órico. Antecedentes</a:t>
            </a:r>
            <a:r>
              <a:rPr lang="es">
                <a:solidFill>
                  <a:schemeClr val="dk1"/>
                </a:solidFill>
              </a:rPr>
              <a:t> </a:t>
            </a:r>
            <a:r>
              <a:rPr lang="es">
                <a:solidFill>
                  <a:srgbClr val="FF0000"/>
                </a:solidFill>
              </a:rPr>
              <a:t>¿Qué es lo que se sabe al respecto?, ¿cuál es el estado del arte?</a:t>
            </a:r>
            <a:endParaRPr>
              <a:solidFill>
                <a:srgbClr val="FF0000"/>
              </a:solidFill>
            </a:endParaRPr>
          </a:p>
          <a:p>
            <a:pPr indent="-342900" lvl="0" marL="457200" rtl="0" algn="just">
              <a:spcBef>
                <a:spcPts val="0"/>
              </a:spcBef>
              <a:spcAft>
                <a:spcPts val="0"/>
              </a:spcAft>
              <a:buClr>
                <a:schemeClr val="dk1"/>
              </a:buClr>
              <a:buSzPts val="1800"/>
              <a:buChar char="●"/>
            </a:pPr>
            <a:r>
              <a:rPr b="1" lang="es">
                <a:solidFill>
                  <a:schemeClr val="dk1"/>
                </a:solidFill>
              </a:rPr>
              <a:t>Identificación del vacío en el conocimiento.</a:t>
            </a:r>
            <a:r>
              <a:rPr lang="es">
                <a:solidFill>
                  <a:schemeClr val="dk1"/>
                </a:solidFill>
              </a:rPr>
              <a:t> </a:t>
            </a:r>
            <a:r>
              <a:rPr lang="es">
                <a:solidFill>
                  <a:srgbClr val="FF0000"/>
                </a:solidFill>
              </a:rPr>
              <a:t>¿Qué es lo que no se sabe respecto del problema?</a:t>
            </a:r>
            <a:endParaRPr>
              <a:solidFill>
                <a:srgbClr val="FF0000"/>
              </a:solidFill>
            </a:endParaRPr>
          </a:p>
          <a:p>
            <a:pPr indent="-342900" lvl="0" marL="457200" rtl="0" algn="just">
              <a:spcBef>
                <a:spcPts val="0"/>
              </a:spcBef>
              <a:spcAft>
                <a:spcPts val="0"/>
              </a:spcAft>
              <a:buClr>
                <a:schemeClr val="dk1"/>
              </a:buClr>
              <a:buSzPts val="1800"/>
              <a:buChar char="●"/>
            </a:pPr>
            <a:r>
              <a:rPr b="1" lang="es">
                <a:solidFill>
                  <a:schemeClr val="dk1"/>
                </a:solidFill>
              </a:rPr>
              <a:t>Levantamiento de la pregunta de investigación.</a:t>
            </a:r>
            <a:r>
              <a:rPr lang="es">
                <a:solidFill>
                  <a:schemeClr val="dk1"/>
                </a:solidFill>
              </a:rPr>
              <a:t> </a:t>
            </a:r>
            <a:r>
              <a:rPr lang="es">
                <a:solidFill>
                  <a:srgbClr val="FF0000"/>
                </a:solidFill>
              </a:rPr>
              <a:t>¿Qué es lo que queremos saber?</a:t>
            </a:r>
            <a:endParaRPr>
              <a:solidFill>
                <a:srgbClr val="FF0000"/>
              </a:solidFill>
            </a:endParaRPr>
          </a:p>
          <a:p>
            <a:pPr indent="0" lvl="0" marL="0" rtl="0" algn="l">
              <a:spcBef>
                <a:spcPts val="1200"/>
              </a:spcBef>
              <a:spcAft>
                <a:spcPts val="12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t>Pregunta de investigaci</a:t>
            </a:r>
            <a:r>
              <a:rPr b="1" lang="es"/>
              <a:t>ón</a:t>
            </a:r>
            <a:endParaRPr b="1"/>
          </a:p>
        </p:txBody>
      </p:sp>
      <p:sp>
        <p:nvSpPr>
          <p:cNvPr id="149" name="Google Shape;149;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just">
              <a:lnSpc>
                <a:spcPct val="80000"/>
              </a:lnSpc>
              <a:spcBef>
                <a:spcPts val="0"/>
              </a:spcBef>
              <a:spcAft>
                <a:spcPts val="0"/>
              </a:spcAft>
              <a:buClr>
                <a:srgbClr val="000000"/>
              </a:buClr>
              <a:buSzPts val="358"/>
              <a:buFont typeface="Arial"/>
              <a:buNone/>
            </a:pPr>
            <a:r>
              <a:rPr lang="es" sz="1610">
                <a:solidFill>
                  <a:schemeClr val="dk1"/>
                </a:solidFill>
              </a:rPr>
              <a:t>El ser humano ha sido definido como “simio desnudo”, como “animal racional”, como “animal que fabrica instrumentos”, como “ser dotado de conciencia”... Pero, con toda justicia, puede definírselo también como “animal que hace preguntas”. En un sentido muy profundo, la capacidad de hacer preguntas se encuentra en la base de la condición humana.</a:t>
            </a:r>
            <a:endParaRPr sz="1610">
              <a:solidFill>
                <a:schemeClr val="dk1"/>
              </a:solidFill>
            </a:endParaRPr>
          </a:p>
          <a:p>
            <a:pPr indent="0" lvl="0" marL="0" rtl="0" algn="l">
              <a:lnSpc>
                <a:spcPct val="80000"/>
              </a:lnSpc>
              <a:spcBef>
                <a:spcPts val="0"/>
              </a:spcBef>
              <a:spcAft>
                <a:spcPts val="0"/>
              </a:spcAft>
              <a:buClr>
                <a:srgbClr val="000000"/>
              </a:buClr>
              <a:buSzPts val="358"/>
              <a:buFont typeface="Arial"/>
              <a:buNone/>
            </a:pPr>
            <a:r>
              <a:t/>
            </a:r>
            <a:endParaRPr sz="910">
              <a:solidFill>
                <a:srgbClr val="000000"/>
              </a:solidFill>
            </a:endParaRPr>
          </a:p>
          <a:p>
            <a:pPr indent="0" lvl="0" marL="0" rtl="0" algn="l">
              <a:spcBef>
                <a:spcPts val="0"/>
              </a:spcBef>
              <a:spcAft>
                <a:spcPts val="120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3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1400"/>
              </a:spcBef>
              <a:spcAft>
                <a:spcPts val="400"/>
              </a:spcAft>
              <a:buClr>
                <a:schemeClr val="dk1"/>
              </a:buClr>
              <a:buSzPts val="1100"/>
              <a:buFont typeface="Arial"/>
              <a:buNone/>
            </a:pPr>
            <a:r>
              <a:rPr b="1" lang="es" sz="1800"/>
              <a:t>Sigla PEARL (Engineering &amp; Technology Research Questions)</a:t>
            </a:r>
            <a:endParaRPr sz="3300"/>
          </a:p>
        </p:txBody>
      </p:sp>
      <p:sp>
        <p:nvSpPr>
          <p:cNvPr id="155" name="Google Shape;155;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s" sz="1500">
                <a:solidFill>
                  <a:schemeClr val="dk1"/>
                </a:solidFill>
              </a:rPr>
              <a:t>Usada en estudios de ingeniería y tecnología para definir problemas de investigación aplicada.</a:t>
            </a:r>
            <a:endParaRPr sz="1500">
              <a:solidFill>
                <a:schemeClr val="dk1"/>
              </a:solidFill>
            </a:endParaRPr>
          </a:p>
          <a:p>
            <a:pPr indent="-323850" lvl="0" marL="457200" rtl="0" algn="l">
              <a:spcBef>
                <a:spcPts val="1200"/>
              </a:spcBef>
              <a:spcAft>
                <a:spcPts val="0"/>
              </a:spcAft>
              <a:buClr>
                <a:schemeClr val="dk1"/>
              </a:buClr>
              <a:buSzPts val="1500"/>
              <a:buChar char="●"/>
            </a:pPr>
            <a:r>
              <a:rPr b="1" lang="es" sz="1500">
                <a:solidFill>
                  <a:schemeClr val="dk1"/>
                </a:solidFill>
              </a:rPr>
              <a:t>P</a:t>
            </a:r>
            <a:r>
              <a:rPr lang="es" sz="1500">
                <a:solidFill>
                  <a:schemeClr val="dk1"/>
                </a:solidFill>
              </a:rPr>
              <a:t> (Problem) → ¿Cuál es el problema técnico o desafío a resolver?</a:t>
            </a:r>
            <a:endParaRPr sz="1500">
              <a:solidFill>
                <a:schemeClr val="dk1"/>
              </a:solidFill>
            </a:endParaRPr>
          </a:p>
          <a:p>
            <a:pPr indent="-323850" lvl="0" marL="457200" rtl="0" algn="l">
              <a:spcBef>
                <a:spcPts val="0"/>
              </a:spcBef>
              <a:spcAft>
                <a:spcPts val="0"/>
              </a:spcAft>
              <a:buClr>
                <a:schemeClr val="dk1"/>
              </a:buClr>
              <a:buSzPts val="1500"/>
              <a:buChar char="●"/>
            </a:pPr>
            <a:r>
              <a:rPr b="1" lang="es" sz="1500">
                <a:solidFill>
                  <a:schemeClr val="dk1"/>
                </a:solidFill>
              </a:rPr>
              <a:t>E</a:t>
            </a:r>
            <a:r>
              <a:rPr lang="es" sz="1500">
                <a:solidFill>
                  <a:schemeClr val="dk1"/>
                </a:solidFill>
              </a:rPr>
              <a:t> (Environment) → ¿En qué contexto o entorno se aplica la solución? (Ej. Industria, sistemas urbanos, biomédica)</a:t>
            </a:r>
            <a:endParaRPr sz="1500">
              <a:solidFill>
                <a:schemeClr val="dk1"/>
              </a:solidFill>
            </a:endParaRPr>
          </a:p>
          <a:p>
            <a:pPr indent="-323850" lvl="0" marL="457200" rtl="0" algn="l">
              <a:spcBef>
                <a:spcPts val="0"/>
              </a:spcBef>
              <a:spcAft>
                <a:spcPts val="0"/>
              </a:spcAft>
              <a:buClr>
                <a:schemeClr val="dk1"/>
              </a:buClr>
              <a:buSzPts val="1500"/>
              <a:buChar char="●"/>
            </a:pPr>
            <a:r>
              <a:rPr b="1" lang="es" sz="1500">
                <a:solidFill>
                  <a:schemeClr val="dk1"/>
                </a:solidFill>
              </a:rPr>
              <a:t>A</a:t>
            </a:r>
            <a:r>
              <a:rPr lang="es" sz="1500">
                <a:solidFill>
                  <a:schemeClr val="dk1"/>
                </a:solidFill>
              </a:rPr>
              <a:t> (Action) → ¿Qué intervención o tecnología se propone?</a:t>
            </a:r>
            <a:endParaRPr sz="1500">
              <a:solidFill>
                <a:schemeClr val="dk1"/>
              </a:solidFill>
            </a:endParaRPr>
          </a:p>
          <a:p>
            <a:pPr indent="-323850" lvl="0" marL="457200" rtl="0" algn="l">
              <a:spcBef>
                <a:spcPts val="0"/>
              </a:spcBef>
              <a:spcAft>
                <a:spcPts val="0"/>
              </a:spcAft>
              <a:buClr>
                <a:schemeClr val="dk1"/>
              </a:buClr>
              <a:buSzPts val="1500"/>
              <a:buChar char="●"/>
            </a:pPr>
            <a:r>
              <a:rPr b="1" lang="es" sz="1500">
                <a:solidFill>
                  <a:schemeClr val="dk1"/>
                </a:solidFill>
              </a:rPr>
              <a:t>R</a:t>
            </a:r>
            <a:r>
              <a:rPr lang="es" sz="1500">
                <a:solidFill>
                  <a:schemeClr val="dk1"/>
                </a:solidFill>
              </a:rPr>
              <a:t> (Results) → ¿Qué resultado se espera obtener? (Mejor eficiencia, menor costo, mayor seguridad, etc.)</a:t>
            </a:r>
            <a:endParaRPr sz="1500">
              <a:solidFill>
                <a:schemeClr val="dk1"/>
              </a:solidFill>
            </a:endParaRPr>
          </a:p>
          <a:p>
            <a:pPr indent="-323850" lvl="0" marL="457200" rtl="0" algn="l">
              <a:spcBef>
                <a:spcPts val="0"/>
              </a:spcBef>
              <a:spcAft>
                <a:spcPts val="0"/>
              </a:spcAft>
              <a:buClr>
                <a:schemeClr val="dk1"/>
              </a:buClr>
              <a:buSzPts val="1500"/>
              <a:buChar char="●"/>
            </a:pPr>
            <a:r>
              <a:rPr b="1" lang="es" sz="1500">
                <a:solidFill>
                  <a:schemeClr val="dk1"/>
                </a:solidFill>
              </a:rPr>
              <a:t>L</a:t>
            </a:r>
            <a:r>
              <a:rPr lang="es" sz="1500">
                <a:solidFill>
                  <a:schemeClr val="dk1"/>
                </a:solidFill>
              </a:rPr>
              <a:t> (Limitations) → ¿Qué restricciones o condiciones pueden afectar el estudio?</a:t>
            </a:r>
            <a:endParaRPr sz="1500">
              <a:solidFill>
                <a:schemeClr val="dk1"/>
              </a:solidFill>
            </a:endParaRPr>
          </a:p>
          <a:p>
            <a:pPr indent="0" lvl="0" marL="0" rtl="0" algn="l">
              <a:spcBef>
                <a:spcPts val="1200"/>
              </a:spcBef>
              <a:spcAft>
                <a:spcPts val="1200"/>
              </a:spcAft>
              <a:buNone/>
            </a:pPr>
            <a:r>
              <a:t/>
            </a:r>
            <a:endParaRPr/>
          </a:p>
        </p:txBody>
      </p:sp>
      <p:sp>
        <p:nvSpPr>
          <p:cNvPr id="156" name="Google Shape;156;p30"/>
          <p:cNvSpPr txBox="1"/>
          <p:nvPr/>
        </p:nvSpPr>
        <p:spPr>
          <a:xfrm>
            <a:off x="249750" y="4054725"/>
            <a:ext cx="8644500" cy="8313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s">
                <a:solidFill>
                  <a:schemeClr val="dk1"/>
                </a:solidFill>
              </a:rPr>
              <a:t>"¿Cómo el uso de un sistema de frenos regenerativos (A) en bicicletas eléctricas urbanas (E) puede mejorar la autonomía de la batería en al menos un 20% (R), considerando restricciones de costos y eficiencia de conversión energética (L)?"</a:t>
            </a:r>
            <a:endParaRPr>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400"/>
              </a:spcAft>
              <a:buClr>
                <a:schemeClr val="dk1"/>
              </a:buClr>
              <a:buSzPts val="1100"/>
              <a:buFont typeface="Arial"/>
              <a:buNone/>
            </a:pPr>
            <a:r>
              <a:rPr b="1" lang="es" sz="1800"/>
              <a:t>Sigla DICER (Para formulación de preguntas en Diseño y Desarrollo de Ingeniería)</a:t>
            </a:r>
            <a:endParaRPr sz="3300"/>
          </a:p>
        </p:txBody>
      </p:sp>
      <p:sp>
        <p:nvSpPr>
          <p:cNvPr id="162" name="Google Shape;162;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Clr>
                <a:schemeClr val="dk1"/>
              </a:buClr>
              <a:buSzPts val="1100"/>
              <a:buFont typeface="Arial"/>
              <a:buNone/>
            </a:pPr>
            <a:r>
              <a:t/>
            </a:r>
            <a:endParaRPr b="1" sz="1300">
              <a:solidFill>
                <a:schemeClr val="dk1"/>
              </a:solidFill>
            </a:endParaRPr>
          </a:p>
          <a:p>
            <a:pPr indent="0" lvl="0" marL="0" rtl="0" algn="l">
              <a:spcBef>
                <a:spcPts val="1200"/>
              </a:spcBef>
              <a:spcAft>
                <a:spcPts val="0"/>
              </a:spcAft>
              <a:buClr>
                <a:schemeClr val="dk1"/>
              </a:buClr>
              <a:buSzPts val="1100"/>
              <a:buFont typeface="Arial"/>
              <a:buNone/>
            </a:pPr>
            <a:r>
              <a:rPr lang="es" sz="1500">
                <a:solidFill>
                  <a:schemeClr val="dk1"/>
                </a:solidFill>
              </a:rPr>
              <a:t>Usada en estudios de diseño y tecnología aplicada.</a:t>
            </a:r>
            <a:endParaRPr sz="1500">
              <a:solidFill>
                <a:schemeClr val="dk1"/>
              </a:solidFill>
            </a:endParaRPr>
          </a:p>
          <a:p>
            <a:pPr indent="-323850" lvl="0" marL="457200" rtl="0" algn="l">
              <a:spcBef>
                <a:spcPts val="1200"/>
              </a:spcBef>
              <a:spcAft>
                <a:spcPts val="0"/>
              </a:spcAft>
              <a:buClr>
                <a:schemeClr val="dk1"/>
              </a:buClr>
              <a:buSzPts val="1500"/>
              <a:buChar char="●"/>
            </a:pPr>
            <a:r>
              <a:rPr b="1" lang="es" sz="1500">
                <a:solidFill>
                  <a:schemeClr val="dk1"/>
                </a:solidFill>
              </a:rPr>
              <a:t>D</a:t>
            </a:r>
            <a:r>
              <a:rPr lang="es" sz="1500">
                <a:solidFill>
                  <a:schemeClr val="dk1"/>
                </a:solidFill>
              </a:rPr>
              <a:t> (Design) → ¿Qué se va a diseñar o desarrollar?</a:t>
            </a:r>
            <a:endParaRPr sz="1500">
              <a:solidFill>
                <a:schemeClr val="dk1"/>
              </a:solidFill>
            </a:endParaRPr>
          </a:p>
          <a:p>
            <a:pPr indent="-323850" lvl="0" marL="457200" rtl="0" algn="l">
              <a:spcBef>
                <a:spcPts val="0"/>
              </a:spcBef>
              <a:spcAft>
                <a:spcPts val="0"/>
              </a:spcAft>
              <a:buClr>
                <a:schemeClr val="dk1"/>
              </a:buClr>
              <a:buSzPts val="1500"/>
              <a:buChar char="●"/>
            </a:pPr>
            <a:r>
              <a:rPr b="1" lang="es" sz="1500">
                <a:solidFill>
                  <a:schemeClr val="dk1"/>
                </a:solidFill>
              </a:rPr>
              <a:t>I</a:t>
            </a:r>
            <a:r>
              <a:rPr lang="es" sz="1500">
                <a:solidFill>
                  <a:schemeClr val="dk1"/>
                </a:solidFill>
              </a:rPr>
              <a:t> (Implementation) → ¿Cómo se va a implementar o construir?</a:t>
            </a:r>
            <a:endParaRPr sz="1500">
              <a:solidFill>
                <a:schemeClr val="dk1"/>
              </a:solidFill>
            </a:endParaRPr>
          </a:p>
          <a:p>
            <a:pPr indent="-323850" lvl="0" marL="457200" rtl="0" algn="l">
              <a:spcBef>
                <a:spcPts val="0"/>
              </a:spcBef>
              <a:spcAft>
                <a:spcPts val="0"/>
              </a:spcAft>
              <a:buClr>
                <a:schemeClr val="dk1"/>
              </a:buClr>
              <a:buSzPts val="1500"/>
              <a:buChar char="●"/>
            </a:pPr>
            <a:r>
              <a:rPr b="1" lang="es" sz="1500">
                <a:solidFill>
                  <a:schemeClr val="dk1"/>
                </a:solidFill>
              </a:rPr>
              <a:t>C</a:t>
            </a:r>
            <a:r>
              <a:rPr lang="es" sz="1500">
                <a:solidFill>
                  <a:schemeClr val="dk1"/>
                </a:solidFill>
              </a:rPr>
              <a:t> (Constraints) → ¿Qué restricciones o condiciones afectan la solución?</a:t>
            </a:r>
            <a:endParaRPr sz="1500">
              <a:solidFill>
                <a:schemeClr val="dk1"/>
              </a:solidFill>
            </a:endParaRPr>
          </a:p>
          <a:p>
            <a:pPr indent="-323850" lvl="0" marL="457200" rtl="0" algn="l">
              <a:spcBef>
                <a:spcPts val="0"/>
              </a:spcBef>
              <a:spcAft>
                <a:spcPts val="0"/>
              </a:spcAft>
              <a:buClr>
                <a:schemeClr val="dk1"/>
              </a:buClr>
              <a:buSzPts val="1500"/>
              <a:buChar char="●"/>
            </a:pPr>
            <a:r>
              <a:rPr b="1" lang="es" sz="1500">
                <a:solidFill>
                  <a:schemeClr val="dk1"/>
                </a:solidFill>
              </a:rPr>
              <a:t>E</a:t>
            </a:r>
            <a:r>
              <a:rPr lang="es" sz="1500">
                <a:solidFill>
                  <a:schemeClr val="dk1"/>
                </a:solidFill>
              </a:rPr>
              <a:t> (Evaluation) → ¿Cómo se medirá el desempeño o validación del diseño?</a:t>
            </a:r>
            <a:endParaRPr sz="1500">
              <a:solidFill>
                <a:schemeClr val="dk1"/>
              </a:solidFill>
            </a:endParaRPr>
          </a:p>
          <a:p>
            <a:pPr indent="-323850" lvl="0" marL="457200" rtl="0" algn="l">
              <a:spcBef>
                <a:spcPts val="0"/>
              </a:spcBef>
              <a:spcAft>
                <a:spcPts val="0"/>
              </a:spcAft>
              <a:buClr>
                <a:schemeClr val="dk1"/>
              </a:buClr>
              <a:buSzPts val="1500"/>
              <a:buChar char="●"/>
            </a:pPr>
            <a:r>
              <a:rPr b="1" lang="es" sz="1500">
                <a:solidFill>
                  <a:schemeClr val="dk1"/>
                </a:solidFill>
              </a:rPr>
              <a:t>R</a:t>
            </a:r>
            <a:r>
              <a:rPr lang="es" sz="1500">
                <a:solidFill>
                  <a:schemeClr val="dk1"/>
                </a:solidFill>
              </a:rPr>
              <a:t> (Results) → ¿Qué resultado se espera obtener?</a:t>
            </a:r>
            <a:endParaRPr sz="1500">
              <a:solidFill>
                <a:schemeClr val="dk1"/>
              </a:solidFill>
            </a:endParaRPr>
          </a:p>
          <a:p>
            <a:pPr indent="0" lvl="0" marL="0" rtl="0" algn="l">
              <a:spcBef>
                <a:spcPts val="1200"/>
              </a:spcBef>
              <a:spcAft>
                <a:spcPts val="1200"/>
              </a:spcAft>
              <a:buNone/>
            </a:pPr>
            <a:r>
              <a:t/>
            </a:r>
            <a:endParaRPr/>
          </a:p>
        </p:txBody>
      </p:sp>
      <p:sp>
        <p:nvSpPr>
          <p:cNvPr id="163" name="Google Shape;163;p31"/>
          <p:cNvSpPr txBox="1"/>
          <p:nvPr/>
        </p:nvSpPr>
        <p:spPr>
          <a:xfrm>
            <a:off x="155850" y="3837675"/>
            <a:ext cx="88323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t>"¿Cómo se puede diseñar (D) un sistema de captación de agua de lluvia (I) en comunidades rurales con bajo presupuesto (C), evaluando su capacidad de almacenamiento y calidad del agua recolectada (E) para garantizar el acceso sostenible a agua potable (R)?"</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400"/>
              </a:spcAft>
              <a:buClr>
                <a:schemeClr val="dk1"/>
              </a:buClr>
              <a:buSzPts val="1100"/>
              <a:buFont typeface="Arial"/>
              <a:buNone/>
            </a:pPr>
            <a:r>
              <a:rPr b="1" lang="es" sz="2400"/>
              <a:t>Sigla FOET (Preguntas orientadas a optimización y tecnología en ingeniería)</a:t>
            </a:r>
            <a:endParaRPr sz="2400"/>
          </a:p>
        </p:txBody>
      </p:sp>
      <p:sp>
        <p:nvSpPr>
          <p:cNvPr id="169" name="Google Shape;169;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Clr>
                <a:schemeClr val="dk1"/>
              </a:buClr>
              <a:buSzPts val="1100"/>
              <a:buFont typeface="Arial"/>
              <a:buNone/>
            </a:pPr>
            <a:r>
              <a:t/>
            </a:r>
            <a:endParaRPr b="1" sz="1300">
              <a:solidFill>
                <a:schemeClr val="dk1"/>
              </a:solidFill>
            </a:endParaRPr>
          </a:p>
          <a:p>
            <a:pPr indent="0" lvl="0" marL="0" rtl="0" algn="l">
              <a:spcBef>
                <a:spcPts val="1200"/>
              </a:spcBef>
              <a:spcAft>
                <a:spcPts val="0"/>
              </a:spcAft>
              <a:buClr>
                <a:schemeClr val="dk1"/>
              </a:buClr>
              <a:buSzPts val="1100"/>
              <a:buFont typeface="Arial"/>
              <a:buNone/>
            </a:pPr>
            <a:r>
              <a:rPr lang="es" sz="1700">
                <a:solidFill>
                  <a:schemeClr val="dk1"/>
                </a:solidFill>
              </a:rPr>
              <a:t>Se usa para definir problemas de optimización y mejora en sistemas tecnológicos.</a:t>
            </a:r>
            <a:endParaRPr sz="1700">
              <a:solidFill>
                <a:schemeClr val="dk1"/>
              </a:solidFill>
            </a:endParaRPr>
          </a:p>
          <a:p>
            <a:pPr indent="-336550" lvl="0" marL="457200" rtl="0" algn="l">
              <a:spcBef>
                <a:spcPts val="1200"/>
              </a:spcBef>
              <a:spcAft>
                <a:spcPts val="0"/>
              </a:spcAft>
              <a:buClr>
                <a:schemeClr val="dk1"/>
              </a:buClr>
              <a:buSzPts val="1700"/>
              <a:buChar char="●"/>
            </a:pPr>
            <a:r>
              <a:rPr b="1" lang="es" sz="1700">
                <a:solidFill>
                  <a:schemeClr val="dk1"/>
                </a:solidFill>
              </a:rPr>
              <a:t>F</a:t>
            </a:r>
            <a:r>
              <a:rPr lang="es" sz="1700">
                <a:solidFill>
                  <a:schemeClr val="dk1"/>
                </a:solidFill>
              </a:rPr>
              <a:t> (Function) → ¿Qué función o tarea se quiere mejorar?</a:t>
            </a:r>
            <a:endParaRPr sz="1700">
              <a:solidFill>
                <a:schemeClr val="dk1"/>
              </a:solidFill>
            </a:endParaRPr>
          </a:p>
          <a:p>
            <a:pPr indent="-336550" lvl="0" marL="457200" rtl="0" algn="l">
              <a:spcBef>
                <a:spcPts val="0"/>
              </a:spcBef>
              <a:spcAft>
                <a:spcPts val="0"/>
              </a:spcAft>
              <a:buClr>
                <a:schemeClr val="dk1"/>
              </a:buClr>
              <a:buSzPts val="1700"/>
              <a:buChar char="●"/>
            </a:pPr>
            <a:r>
              <a:rPr b="1" lang="es" sz="1700">
                <a:solidFill>
                  <a:schemeClr val="dk1"/>
                </a:solidFill>
              </a:rPr>
              <a:t>O</a:t>
            </a:r>
            <a:r>
              <a:rPr lang="es" sz="1700">
                <a:solidFill>
                  <a:schemeClr val="dk1"/>
                </a:solidFill>
              </a:rPr>
              <a:t> (Optimization) → ¿Cómo se puede optimizar el proceso o sistema?</a:t>
            </a:r>
            <a:endParaRPr sz="1700">
              <a:solidFill>
                <a:schemeClr val="dk1"/>
              </a:solidFill>
            </a:endParaRPr>
          </a:p>
          <a:p>
            <a:pPr indent="-336550" lvl="0" marL="457200" rtl="0" algn="l">
              <a:spcBef>
                <a:spcPts val="0"/>
              </a:spcBef>
              <a:spcAft>
                <a:spcPts val="0"/>
              </a:spcAft>
              <a:buClr>
                <a:schemeClr val="dk1"/>
              </a:buClr>
              <a:buSzPts val="1700"/>
              <a:buChar char="●"/>
            </a:pPr>
            <a:r>
              <a:rPr b="1" lang="es" sz="1700">
                <a:solidFill>
                  <a:schemeClr val="dk1"/>
                </a:solidFill>
              </a:rPr>
              <a:t>E</a:t>
            </a:r>
            <a:r>
              <a:rPr lang="es" sz="1700">
                <a:solidFill>
                  <a:schemeClr val="dk1"/>
                </a:solidFill>
              </a:rPr>
              <a:t> (Engineering approach) → ¿Qué principios de ingeniería se aplicarán?</a:t>
            </a:r>
            <a:endParaRPr sz="1700">
              <a:solidFill>
                <a:schemeClr val="dk1"/>
              </a:solidFill>
            </a:endParaRPr>
          </a:p>
          <a:p>
            <a:pPr indent="-336550" lvl="0" marL="457200" rtl="0" algn="l">
              <a:spcBef>
                <a:spcPts val="0"/>
              </a:spcBef>
              <a:spcAft>
                <a:spcPts val="0"/>
              </a:spcAft>
              <a:buClr>
                <a:schemeClr val="dk1"/>
              </a:buClr>
              <a:buSzPts val="1700"/>
              <a:buChar char="●"/>
            </a:pPr>
            <a:r>
              <a:rPr b="1" lang="es" sz="1700">
                <a:solidFill>
                  <a:schemeClr val="dk1"/>
                </a:solidFill>
              </a:rPr>
              <a:t>T</a:t>
            </a:r>
            <a:r>
              <a:rPr lang="es" sz="1700">
                <a:solidFill>
                  <a:schemeClr val="dk1"/>
                </a:solidFill>
              </a:rPr>
              <a:t> (Technology) → ¿Qué tecnología o herramientas se utilizarán?</a:t>
            </a:r>
            <a:endParaRPr sz="1700">
              <a:solidFill>
                <a:schemeClr val="dk1"/>
              </a:solidFill>
            </a:endParaRPr>
          </a:p>
          <a:p>
            <a:pPr indent="0" lvl="0" marL="0" rtl="0" algn="l">
              <a:spcBef>
                <a:spcPts val="1200"/>
              </a:spcBef>
              <a:spcAft>
                <a:spcPts val="1200"/>
              </a:spcAft>
              <a:buNone/>
            </a:pPr>
            <a:r>
              <a:t/>
            </a:r>
            <a:endParaRPr/>
          </a:p>
        </p:txBody>
      </p:sp>
      <p:sp>
        <p:nvSpPr>
          <p:cNvPr id="170" name="Google Shape;170;p32"/>
          <p:cNvSpPr txBox="1"/>
          <p:nvPr/>
        </p:nvSpPr>
        <p:spPr>
          <a:xfrm>
            <a:off x="385800" y="4091500"/>
            <a:ext cx="8372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t>"¿Cómo mejorar la eficiencia energética (O) de un motor eléctrico (F) utilizando principios de termodinámica aplicada (E) y nuevos materiales superconductores (T)?"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400"/>
              </a:spcAft>
              <a:buClr>
                <a:schemeClr val="dk1"/>
              </a:buClr>
              <a:buSzPts val="1100"/>
              <a:buFont typeface="Arial"/>
              <a:buNone/>
            </a:pPr>
            <a:r>
              <a:rPr b="1" lang="es" sz="2400"/>
              <a:t>PICO(T) Variaciones y Adaptaciones para ciencias de la salud</a:t>
            </a:r>
            <a:endParaRPr sz="2400"/>
          </a:p>
        </p:txBody>
      </p:sp>
      <p:sp>
        <p:nvSpPr>
          <p:cNvPr id="176" name="Google Shape;176;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1400"/>
              </a:spcBef>
              <a:spcAft>
                <a:spcPts val="0"/>
              </a:spcAft>
              <a:buNone/>
            </a:pPr>
            <a:r>
              <a:t/>
            </a:r>
            <a:endParaRPr b="1" sz="1300">
              <a:solidFill>
                <a:schemeClr val="dk1"/>
              </a:solidFill>
            </a:endParaRPr>
          </a:p>
          <a:p>
            <a:pPr indent="0" lvl="0" marL="0" rtl="0" algn="l">
              <a:spcBef>
                <a:spcPts val="1200"/>
              </a:spcBef>
              <a:spcAft>
                <a:spcPts val="0"/>
              </a:spcAft>
              <a:buNone/>
            </a:pPr>
            <a:r>
              <a:rPr lang="es" sz="1500">
                <a:solidFill>
                  <a:schemeClr val="dk1"/>
                </a:solidFill>
              </a:rPr>
              <a:t>Existen algunas modificaciones de la sigla PICO para adaptarse a diferentes tipos de estudios:</a:t>
            </a:r>
            <a:endParaRPr sz="1500">
              <a:solidFill>
                <a:schemeClr val="dk1"/>
              </a:solidFill>
            </a:endParaRPr>
          </a:p>
          <a:p>
            <a:pPr indent="-323850" lvl="0" marL="457200" rtl="0" algn="l">
              <a:spcBef>
                <a:spcPts val="1200"/>
              </a:spcBef>
              <a:spcAft>
                <a:spcPts val="0"/>
              </a:spcAft>
              <a:buClr>
                <a:schemeClr val="dk1"/>
              </a:buClr>
              <a:buSzPts val="1500"/>
              <a:buChar char="●"/>
            </a:pPr>
            <a:r>
              <a:rPr b="1" lang="es" sz="1500">
                <a:solidFill>
                  <a:schemeClr val="dk1"/>
                </a:solidFill>
              </a:rPr>
              <a:t>PICOT</a:t>
            </a:r>
            <a:r>
              <a:rPr lang="es" sz="1500">
                <a:solidFill>
                  <a:schemeClr val="dk1"/>
                </a:solidFill>
              </a:rPr>
              <a:t> → Incluye el </a:t>
            </a:r>
            <a:r>
              <a:rPr b="1" lang="es" sz="1500">
                <a:solidFill>
                  <a:schemeClr val="dk1"/>
                </a:solidFill>
              </a:rPr>
              <a:t>Tiempo</a:t>
            </a:r>
            <a:r>
              <a:rPr lang="es" sz="1500">
                <a:solidFill>
                  <a:schemeClr val="dk1"/>
                </a:solidFill>
              </a:rPr>
              <a:t> explícitamente.</a:t>
            </a:r>
            <a:endParaRPr sz="1500">
              <a:solidFill>
                <a:schemeClr val="dk1"/>
              </a:solidFill>
            </a:endParaRPr>
          </a:p>
          <a:p>
            <a:pPr indent="-323850" lvl="0" marL="457200" rtl="0" algn="l">
              <a:spcBef>
                <a:spcPts val="0"/>
              </a:spcBef>
              <a:spcAft>
                <a:spcPts val="0"/>
              </a:spcAft>
              <a:buClr>
                <a:schemeClr val="dk1"/>
              </a:buClr>
              <a:buSzPts val="1500"/>
              <a:buChar char="●"/>
            </a:pPr>
            <a:r>
              <a:rPr b="1" lang="es" sz="1500">
                <a:solidFill>
                  <a:schemeClr val="dk1"/>
                </a:solidFill>
              </a:rPr>
              <a:t>PICOS</a:t>
            </a:r>
            <a:r>
              <a:rPr lang="es" sz="1500">
                <a:solidFill>
                  <a:schemeClr val="dk1"/>
                </a:solidFill>
              </a:rPr>
              <a:t> → Añade </a:t>
            </a:r>
            <a:r>
              <a:rPr b="1" lang="es" sz="1500">
                <a:solidFill>
                  <a:schemeClr val="dk1"/>
                </a:solidFill>
              </a:rPr>
              <a:t>Study Design (Diseño del Estudio)</a:t>
            </a:r>
            <a:r>
              <a:rPr lang="es" sz="1500">
                <a:solidFill>
                  <a:schemeClr val="dk1"/>
                </a:solidFill>
              </a:rPr>
              <a:t>, útil para revisiones sistemáticas.</a:t>
            </a:r>
            <a:endParaRPr sz="1500">
              <a:solidFill>
                <a:schemeClr val="dk1"/>
              </a:solidFill>
            </a:endParaRPr>
          </a:p>
          <a:p>
            <a:pPr indent="-323850" lvl="0" marL="457200" rtl="0" algn="l">
              <a:spcBef>
                <a:spcPts val="0"/>
              </a:spcBef>
              <a:spcAft>
                <a:spcPts val="0"/>
              </a:spcAft>
              <a:buClr>
                <a:schemeClr val="dk1"/>
              </a:buClr>
              <a:buSzPts val="1500"/>
              <a:buChar char="●"/>
            </a:pPr>
            <a:r>
              <a:rPr b="1" lang="es" sz="1500">
                <a:solidFill>
                  <a:schemeClr val="dk1"/>
                </a:solidFill>
              </a:rPr>
              <a:t>SPIDER</a:t>
            </a:r>
            <a:r>
              <a:rPr lang="es" sz="1500">
                <a:solidFill>
                  <a:schemeClr val="dk1"/>
                </a:solidFill>
              </a:rPr>
              <a:t> → En estudios cualitativos se usa </a:t>
            </a:r>
            <a:r>
              <a:rPr b="1" lang="es" sz="1500">
                <a:solidFill>
                  <a:schemeClr val="dk1"/>
                </a:solidFill>
              </a:rPr>
              <a:t>SPIDER</a:t>
            </a:r>
            <a:r>
              <a:rPr lang="es" sz="1500">
                <a:solidFill>
                  <a:schemeClr val="dk1"/>
                </a:solidFill>
              </a:rPr>
              <a:t> en lugar de PICO, donde:</a:t>
            </a:r>
            <a:endParaRPr sz="1500">
              <a:solidFill>
                <a:schemeClr val="dk1"/>
              </a:solidFill>
            </a:endParaRPr>
          </a:p>
          <a:p>
            <a:pPr indent="-323850" lvl="1" marL="914400" rtl="0" algn="l">
              <a:spcBef>
                <a:spcPts val="0"/>
              </a:spcBef>
              <a:spcAft>
                <a:spcPts val="0"/>
              </a:spcAft>
              <a:buClr>
                <a:schemeClr val="dk1"/>
              </a:buClr>
              <a:buSzPts val="1500"/>
              <a:buChar char="○"/>
            </a:pPr>
            <a:r>
              <a:rPr b="1" lang="es" sz="1500">
                <a:solidFill>
                  <a:schemeClr val="dk1"/>
                </a:solidFill>
              </a:rPr>
              <a:t>S</a:t>
            </a:r>
            <a:r>
              <a:rPr lang="es" sz="1500">
                <a:solidFill>
                  <a:schemeClr val="dk1"/>
                </a:solidFill>
              </a:rPr>
              <a:t> (Sample) → Muestra</a:t>
            </a:r>
            <a:endParaRPr sz="1500">
              <a:solidFill>
                <a:schemeClr val="dk1"/>
              </a:solidFill>
            </a:endParaRPr>
          </a:p>
          <a:p>
            <a:pPr indent="-323850" lvl="1" marL="914400" rtl="0" algn="l">
              <a:spcBef>
                <a:spcPts val="0"/>
              </a:spcBef>
              <a:spcAft>
                <a:spcPts val="0"/>
              </a:spcAft>
              <a:buClr>
                <a:schemeClr val="dk1"/>
              </a:buClr>
              <a:buSzPts val="1500"/>
              <a:buChar char="○"/>
            </a:pPr>
            <a:r>
              <a:rPr b="1" lang="es" sz="1500">
                <a:solidFill>
                  <a:schemeClr val="dk1"/>
                </a:solidFill>
              </a:rPr>
              <a:t>PI</a:t>
            </a:r>
            <a:r>
              <a:rPr lang="es" sz="1500">
                <a:solidFill>
                  <a:schemeClr val="dk1"/>
                </a:solidFill>
              </a:rPr>
              <a:t> (Phenomenon of Interest) → Fenómeno de interés</a:t>
            </a:r>
            <a:endParaRPr sz="1500">
              <a:solidFill>
                <a:schemeClr val="dk1"/>
              </a:solidFill>
            </a:endParaRPr>
          </a:p>
          <a:p>
            <a:pPr indent="-323850" lvl="1" marL="914400" rtl="0" algn="l">
              <a:spcBef>
                <a:spcPts val="0"/>
              </a:spcBef>
              <a:spcAft>
                <a:spcPts val="0"/>
              </a:spcAft>
              <a:buClr>
                <a:schemeClr val="dk1"/>
              </a:buClr>
              <a:buSzPts val="1500"/>
              <a:buChar char="○"/>
            </a:pPr>
            <a:r>
              <a:rPr b="1" lang="es" sz="1500">
                <a:solidFill>
                  <a:schemeClr val="dk1"/>
                </a:solidFill>
              </a:rPr>
              <a:t>D</a:t>
            </a:r>
            <a:r>
              <a:rPr lang="es" sz="1500">
                <a:solidFill>
                  <a:schemeClr val="dk1"/>
                </a:solidFill>
              </a:rPr>
              <a:t> (Design) → Diseño del estudio</a:t>
            </a:r>
            <a:endParaRPr sz="1500">
              <a:solidFill>
                <a:schemeClr val="dk1"/>
              </a:solidFill>
            </a:endParaRPr>
          </a:p>
          <a:p>
            <a:pPr indent="-323850" lvl="1" marL="914400" rtl="0" algn="l">
              <a:spcBef>
                <a:spcPts val="0"/>
              </a:spcBef>
              <a:spcAft>
                <a:spcPts val="0"/>
              </a:spcAft>
              <a:buClr>
                <a:schemeClr val="dk1"/>
              </a:buClr>
              <a:buSzPts val="1500"/>
              <a:buChar char="○"/>
            </a:pPr>
            <a:r>
              <a:rPr b="1" lang="es" sz="1500">
                <a:solidFill>
                  <a:schemeClr val="dk1"/>
                </a:solidFill>
              </a:rPr>
              <a:t>E</a:t>
            </a:r>
            <a:r>
              <a:rPr lang="es" sz="1500">
                <a:solidFill>
                  <a:schemeClr val="dk1"/>
                </a:solidFill>
              </a:rPr>
              <a:t> (Evaluation) → Evaluación o resultados</a:t>
            </a:r>
            <a:endParaRPr sz="1500">
              <a:solidFill>
                <a:schemeClr val="dk1"/>
              </a:solidFill>
            </a:endParaRPr>
          </a:p>
          <a:p>
            <a:pPr indent="-323850" lvl="1" marL="914400" rtl="0" algn="l">
              <a:spcBef>
                <a:spcPts val="0"/>
              </a:spcBef>
              <a:spcAft>
                <a:spcPts val="0"/>
              </a:spcAft>
              <a:buClr>
                <a:schemeClr val="dk1"/>
              </a:buClr>
              <a:buSzPts val="1500"/>
              <a:buChar char="○"/>
            </a:pPr>
            <a:r>
              <a:rPr b="1" lang="es" sz="1500">
                <a:solidFill>
                  <a:schemeClr val="dk1"/>
                </a:solidFill>
              </a:rPr>
              <a:t>R</a:t>
            </a:r>
            <a:r>
              <a:rPr lang="es" sz="1500">
                <a:solidFill>
                  <a:schemeClr val="dk1"/>
                </a:solidFill>
              </a:rPr>
              <a:t> (Research Type) → Tipo de investigación</a:t>
            </a:r>
            <a:endParaRPr sz="1500">
              <a:solidFill>
                <a:schemeClr val="dk1"/>
              </a:solidFill>
            </a:endParaRPr>
          </a:p>
          <a:p>
            <a:pPr indent="0" lvl="0" marL="0" rtl="0" algn="l">
              <a:spcBef>
                <a:spcPts val="1200"/>
              </a:spcBef>
              <a:spcAft>
                <a:spcPts val="1200"/>
              </a:spcAft>
              <a:buNone/>
            </a:pPr>
            <a:r>
              <a:t/>
            </a:r>
            <a:endParaRPr/>
          </a:p>
        </p:txBody>
      </p:sp>
      <p:sp>
        <p:nvSpPr>
          <p:cNvPr id="177" name="Google Shape;177;p33"/>
          <p:cNvSpPr txBox="1"/>
          <p:nvPr/>
        </p:nvSpPr>
        <p:spPr>
          <a:xfrm>
            <a:off x="250300" y="4092275"/>
            <a:ext cx="85206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t>"¿En pacientes adultos con hipertensión (P), el uso de un nuevo antihipertensivo (I), en comparación con un tratamiento convencional (C), reduce la presión arterial sistólica (O) después de 6 meses de tratamiento (T)?"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4"/>
          <p:cNvSpPr txBox="1"/>
          <p:nvPr>
            <p:ph type="title"/>
          </p:nvPr>
        </p:nvSpPr>
        <p:spPr>
          <a:xfrm>
            <a:off x="261625" y="2948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Clr>
                <a:schemeClr val="dk1"/>
              </a:buClr>
              <a:buSzPts val="1100"/>
              <a:buFont typeface="Arial"/>
              <a:buNone/>
            </a:pPr>
            <a:r>
              <a:rPr b="1" lang="es" sz="2400"/>
              <a:t>¿Qué es una hipótesis investigativa?</a:t>
            </a:r>
            <a:endParaRPr b="1" sz="2400"/>
          </a:p>
        </p:txBody>
      </p:sp>
      <p:sp>
        <p:nvSpPr>
          <p:cNvPr id="183" name="Google Shape;183;p34"/>
          <p:cNvSpPr txBox="1"/>
          <p:nvPr>
            <p:ph idx="1" type="body"/>
          </p:nvPr>
        </p:nvSpPr>
        <p:spPr>
          <a:xfrm>
            <a:off x="311700" y="1152475"/>
            <a:ext cx="8746200" cy="3416400"/>
          </a:xfrm>
          <a:prstGeom prst="rect">
            <a:avLst/>
          </a:prstGeom>
        </p:spPr>
        <p:txBody>
          <a:bodyPr anchorCtr="0" anchor="t" bIns="91425" lIns="91425" spcFirstLastPara="1" rIns="91425" wrap="square" tIns="91425">
            <a:normAutofit fontScale="40000" lnSpcReduction="20000"/>
          </a:bodyPr>
          <a:lstStyle/>
          <a:p>
            <a:pPr indent="0" lvl="0" marL="0" rtl="0" algn="l">
              <a:spcBef>
                <a:spcPts val="0"/>
              </a:spcBef>
              <a:spcAft>
                <a:spcPts val="0"/>
              </a:spcAft>
              <a:buNone/>
            </a:pPr>
            <a:r>
              <a:t/>
            </a:r>
            <a:endParaRPr sz="6107"/>
          </a:p>
          <a:p>
            <a:pPr indent="0" lvl="0" marL="0" rtl="0" algn="just">
              <a:spcBef>
                <a:spcPts val="1200"/>
              </a:spcBef>
              <a:spcAft>
                <a:spcPts val="0"/>
              </a:spcAft>
              <a:buClr>
                <a:schemeClr val="dk1"/>
              </a:buClr>
              <a:buSzPts val="440"/>
              <a:buFont typeface="Arial"/>
              <a:buNone/>
            </a:pPr>
            <a:r>
              <a:rPr lang="es" sz="6107"/>
              <a:t> </a:t>
            </a:r>
            <a:r>
              <a:rPr lang="es" sz="6107">
                <a:solidFill>
                  <a:schemeClr val="dk1"/>
                </a:solidFill>
              </a:rPr>
              <a:t>Se define como una explicación propuesta por un fenómeno.</a:t>
            </a:r>
            <a:endParaRPr sz="6107">
              <a:solidFill>
                <a:schemeClr val="dk1"/>
              </a:solidFill>
            </a:endParaRPr>
          </a:p>
          <a:p>
            <a:pPr indent="0" lvl="0" marL="0" rtl="0" algn="just">
              <a:spcBef>
                <a:spcPts val="1200"/>
              </a:spcBef>
              <a:spcAft>
                <a:spcPts val="0"/>
              </a:spcAft>
              <a:buClr>
                <a:schemeClr val="dk1"/>
              </a:buClr>
              <a:buSzPts val="440"/>
              <a:buFont typeface="Arial"/>
              <a:buNone/>
            </a:pPr>
            <a:r>
              <a:rPr lang="es" sz="6107">
                <a:solidFill>
                  <a:schemeClr val="dk1"/>
                </a:solidFill>
              </a:rPr>
              <a:t>• </a:t>
            </a:r>
            <a:r>
              <a:rPr b="1" lang="es" sz="6107">
                <a:solidFill>
                  <a:schemeClr val="dk1"/>
                </a:solidFill>
              </a:rPr>
              <a:t>NO</a:t>
            </a:r>
            <a:r>
              <a:rPr lang="es" sz="6107">
                <a:solidFill>
                  <a:schemeClr val="dk1"/>
                </a:solidFill>
              </a:rPr>
              <a:t> es la verdad absoluta, pero son proposiciones o conjeturas provisionales que nos permiten trabajar.</a:t>
            </a:r>
            <a:endParaRPr sz="6107">
              <a:solidFill>
                <a:schemeClr val="dk1"/>
              </a:solidFill>
            </a:endParaRPr>
          </a:p>
          <a:p>
            <a:pPr indent="0" lvl="0" marL="0" rtl="0" algn="just">
              <a:spcBef>
                <a:spcPts val="1200"/>
              </a:spcBef>
              <a:spcAft>
                <a:spcPts val="0"/>
              </a:spcAft>
              <a:buClr>
                <a:schemeClr val="dk1"/>
              </a:buClr>
              <a:buSzPts val="440"/>
              <a:buFont typeface="Arial"/>
              <a:buNone/>
            </a:pPr>
            <a:r>
              <a:rPr lang="es" sz="6107">
                <a:solidFill>
                  <a:schemeClr val="dk1"/>
                </a:solidFill>
              </a:rPr>
              <a:t>• Las hipótesis estadísticas se establecen de tal forma que pueden ser evaluadas por medio de técnicas estadísticas adecuadas.</a:t>
            </a:r>
            <a:endParaRPr sz="6107">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t>Hipótesis nula vs. alternativa</a:t>
            </a:r>
            <a:endParaRPr b="1"/>
          </a:p>
        </p:txBody>
      </p:sp>
      <p:sp>
        <p:nvSpPr>
          <p:cNvPr id="189" name="Google Shape;189;p35"/>
          <p:cNvSpPr txBox="1"/>
          <p:nvPr>
            <p:ph idx="1" type="body"/>
          </p:nvPr>
        </p:nvSpPr>
        <p:spPr>
          <a:xfrm>
            <a:off x="311700" y="1152475"/>
            <a:ext cx="4260300" cy="3416400"/>
          </a:xfrm>
          <a:prstGeom prst="rect">
            <a:avLst/>
          </a:prstGeom>
        </p:spPr>
        <p:txBody>
          <a:bodyPr anchorCtr="0" anchor="t" bIns="91425" lIns="91425" spcFirstLastPara="1" rIns="91425" wrap="square" tIns="91425">
            <a:normAutofit lnSpcReduction="10000"/>
          </a:bodyPr>
          <a:lstStyle/>
          <a:p>
            <a:pPr indent="0" lvl="0" marL="0" rtl="0" algn="just">
              <a:spcBef>
                <a:spcPts val="0"/>
              </a:spcBef>
              <a:spcAft>
                <a:spcPts val="0"/>
              </a:spcAft>
              <a:buClr>
                <a:schemeClr val="dk1"/>
              </a:buClr>
              <a:buSzPts val="1100"/>
              <a:buFont typeface="Arial"/>
              <a:buNone/>
            </a:pPr>
            <a:r>
              <a:rPr b="1" lang="es">
                <a:solidFill>
                  <a:schemeClr val="dk1"/>
                </a:solidFill>
              </a:rPr>
              <a:t>Hipótesis nula</a:t>
            </a:r>
            <a:endParaRPr b="1">
              <a:solidFill>
                <a:schemeClr val="dk1"/>
              </a:solidFill>
            </a:endParaRPr>
          </a:p>
          <a:p>
            <a:pPr indent="0" lvl="0" marL="0" rtl="0" algn="just">
              <a:spcBef>
                <a:spcPts val="1200"/>
              </a:spcBef>
              <a:spcAft>
                <a:spcPts val="0"/>
              </a:spcAft>
              <a:buClr>
                <a:schemeClr val="dk1"/>
              </a:buClr>
              <a:buSzPts val="1100"/>
              <a:buFont typeface="Arial"/>
              <a:buNone/>
            </a:pPr>
            <a:r>
              <a:rPr lang="es">
                <a:solidFill>
                  <a:schemeClr val="dk1"/>
                </a:solidFill>
              </a:rPr>
              <a:t>• Cualquier pregunta de investigación, parte de que no existen diferencias.</a:t>
            </a:r>
            <a:endParaRPr>
              <a:solidFill>
                <a:schemeClr val="dk1"/>
              </a:solidFill>
            </a:endParaRPr>
          </a:p>
          <a:p>
            <a:pPr indent="0" lvl="0" marL="0" rtl="0" algn="just">
              <a:spcBef>
                <a:spcPts val="1200"/>
              </a:spcBef>
              <a:spcAft>
                <a:spcPts val="0"/>
              </a:spcAft>
              <a:buClr>
                <a:schemeClr val="dk1"/>
              </a:buClr>
              <a:buSzPts val="1100"/>
              <a:buFont typeface="Arial"/>
              <a:buNone/>
            </a:pPr>
            <a:r>
              <a:rPr lang="es">
                <a:solidFill>
                  <a:schemeClr val="dk1"/>
                </a:solidFill>
              </a:rPr>
              <a:t>• Cuando hacemos estadística</a:t>
            </a:r>
            <a:endParaRPr>
              <a:solidFill>
                <a:schemeClr val="dk1"/>
              </a:solidFill>
            </a:endParaRPr>
          </a:p>
          <a:p>
            <a:pPr indent="0" lvl="0" marL="0" rtl="0" algn="just">
              <a:spcBef>
                <a:spcPts val="1200"/>
              </a:spcBef>
              <a:spcAft>
                <a:spcPts val="0"/>
              </a:spcAft>
              <a:buClr>
                <a:schemeClr val="dk1"/>
              </a:buClr>
              <a:buSzPts val="1100"/>
              <a:buFont typeface="Arial"/>
              <a:buNone/>
            </a:pPr>
            <a:r>
              <a:rPr lang="es">
                <a:solidFill>
                  <a:schemeClr val="dk1"/>
                </a:solidFill>
              </a:rPr>
              <a:t>inferencial, lo que hacemos es</a:t>
            </a:r>
            <a:endParaRPr>
              <a:solidFill>
                <a:schemeClr val="dk1"/>
              </a:solidFill>
            </a:endParaRPr>
          </a:p>
          <a:p>
            <a:pPr indent="0" lvl="0" marL="0" rtl="0" algn="just">
              <a:spcBef>
                <a:spcPts val="1200"/>
              </a:spcBef>
              <a:spcAft>
                <a:spcPts val="0"/>
              </a:spcAft>
              <a:buClr>
                <a:schemeClr val="dk1"/>
              </a:buClr>
              <a:buSzPts val="1100"/>
              <a:buFont typeface="Arial"/>
              <a:buNone/>
            </a:pPr>
            <a:r>
              <a:rPr lang="es">
                <a:solidFill>
                  <a:schemeClr val="dk1"/>
                </a:solidFill>
              </a:rPr>
              <a:t>aceptar o rechazar la hipótesis</a:t>
            </a:r>
            <a:endParaRPr>
              <a:solidFill>
                <a:schemeClr val="dk1"/>
              </a:solidFill>
            </a:endParaRPr>
          </a:p>
          <a:p>
            <a:pPr indent="0" lvl="0" marL="0" rtl="0" algn="just">
              <a:spcBef>
                <a:spcPts val="1200"/>
              </a:spcBef>
              <a:spcAft>
                <a:spcPts val="0"/>
              </a:spcAft>
              <a:buClr>
                <a:schemeClr val="dk1"/>
              </a:buClr>
              <a:buSzPts val="1100"/>
              <a:buFont typeface="Arial"/>
              <a:buNone/>
            </a:pPr>
            <a:r>
              <a:rPr lang="es">
                <a:solidFill>
                  <a:schemeClr val="dk1"/>
                </a:solidFill>
              </a:rPr>
              <a:t>nula.</a:t>
            </a:r>
            <a:endParaRPr>
              <a:solidFill>
                <a:schemeClr val="dk1"/>
              </a:solidFill>
            </a:endParaRPr>
          </a:p>
          <a:p>
            <a:pPr indent="0" lvl="0" marL="0" rtl="0" algn="l">
              <a:spcBef>
                <a:spcPts val="1200"/>
              </a:spcBef>
              <a:spcAft>
                <a:spcPts val="1200"/>
              </a:spcAft>
              <a:buNone/>
            </a:pPr>
            <a:r>
              <a:t/>
            </a:r>
            <a:endParaRPr/>
          </a:p>
        </p:txBody>
      </p:sp>
      <p:sp>
        <p:nvSpPr>
          <p:cNvPr id="190" name="Google Shape;190;p35"/>
          <p:cNvSpPr txBox="1"/>
          <p:nvPr>
            <p:ph idx="1" type="body"/>
          </p:nvPr>
        </p:nvSpPr>
        <p:spPr>
          <a:xfrm>
            <a:off x="4781650" y="1152475"/>
            <a:ext cx="4260300" cy="3416400"/>
          </a:xfrm>
          <a:prstGeom prst="rect">
            <a:avLst/>
          </a:prstGeom>
        </p:spPr>
        <p:txBody>
          <a:bodyPr anchorCtr="0" anchor="t" bIns="91425" lIns="91425" spcFirstLastPara="1" rIns="91425" wrap="square" tIns="91425">
            <a:normAutofit fontScale="32500" lnSpcReduction="10000"/>
          </a:bodyPr>
          <a:lstStyle/>
          <a:p>
            <a:pPr indent="0" lvl="0" marL="0" rtl="0" algn="just">
              <a:spcBef>
                <a:spcPts val="0"/>
              </a:spcBef>
              <a:spcAft>
                <a:spcPts val="0"/>
              </a:spcAft>
              <a:buClr>
                <a:schemeClr val="dk1"/>
              </a:buClr>
              <a:buSzPts val="358"/>
              <a:buFont typeface="Arial"/>
              <a:buNone/>
            </a:pPr>
            <a:r>
              <a:rPr b="1" lang="es" sz="5739">
                <a:solidFill>
                  <a:schemeClr val="dk1"/>
                </a:solidFill>
              </a:rPr>
              <a:t>Hipótesis alternativa</a:t>
            </a:r>
            <a:endParaRPr b="1" sz="5739">
              <a:solidFill>
                <a:schemeClr val="dk1"/>
              </a:solidFill>
            </a:endParaRPr>
          </a:p>
          <a:p>
            <a:pPr indent="0" lvl="0" marL="0" rtl="0" algn="just">
              <a:spcBef>
                <a:spcPts val="1200"/>
              </a:spcBef>
              <a:spcAft>
                <a:spcPts val="0"/>
              </a:spcAft>
              <a:buClr>
                <a:schemeClr val="dk1"/>
              </a:buClr>
              <a:buSzPts val="358"/>
              <a:buFont typeface="Arial"/>
              <a:buNone/>
            </a:pPr>
            <a:r>
              <a:rPr lang="es" sz="5739">
                <a:solidFill>
                  <a:schemeClr val="dk1"/>
                </a:solidFill>
              </a:rPr>
              <a:t>• Es la pregunta directa que queremos confirmar.</a:t>
            </a:r>
            <a:endParaRPr sz="5739">
              <a:solidFill>
                <a:schemeClr val="dk1"/>
              </a:solidFill>
            </a:endParaRPr>
          </a:p>
          <a:p>
            <a:pPr indent="0" lvl="0" marL="0" rtl="0" algn="just">
              <a:spcBef>
                <a:spcPts val="1200"/>
              </a:spcBef>
              <a:spcAft>
                <a:spcPts val="0"/>
              </a:spcAft>
              <a:buClr>
                <a:schemeClr val="dk1"/>
              </a:buClr>
              <a:buSzPts val="358"/>
              <a:buFont typeface="Arial"/>
              <a:buNone/>
            </a:pPr>
            <a:r>
              <a:rPr lang="es" sz="5739">
                <a:solidFill>
                  <a:schemeClr val="dk1"/>
                </a:solidFill>
              </a:rPr>
              <a:t>• Es una proposición que se creerá cierta si los datos de la muestra llevan al rechazo de la hipótesis nula.</a:t>
            </a:r>
            <a:endParaRPr sz="5739">
              <a:solidFill>
                <a:schemeClr val="dk1"/>
              </a:solidFill>
            </a:endParaRPr>
          </a:p>
          <a:p>
            <a:pPr indent="0" lvl="0" marL="0" rtl="0" algn="just">
              <a:spcBef>
                <a:spcPts val="1200"/>
              </a:spcBef>
              <a:spcAft>
                <a:spcPts val="0"/>
              </a:spcAft>
              <a:buClr>
                <a:schemeClr val="dk1"/>
              </a:buClr>
              <a:buSzPts val="358"/>
              <a:buFont typeface="Arial"/>
              <a:buNone/>
            </a:pPr>
            <a:r>
              <a:t/>
            </a:r>
            <a:endParaRPr sz="5739">
              <a:solidFill>
                <a:schemeClr val="dk1"/>
              </a:solidFill>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t>Ejemplos de hipótesis</a:t>
            </a:r>
            <a:endParaRPr b="1"/>
          </a:p>
        </p:txBody>
      </p:sp>
      <p:sp>
        <p:nvSpPr>
          <p:cNvPr id="196" name="Google Shape;196;p36"/>
          <p:cNvSpPr txBox="1"/>
          <p:nvPr>
            <p:ph idx="1" type="body"/>
          </p:nvPr>
        </p:nvSpPr>
        <p:spPr>
          <a:xfrm>
            <a:off x="311700" y="1152475"/>
            <a:ext cx="4260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s">
                <a:solidFill>
                  <a:schemeClr val="dk1"/>
                </a:solidFill>
              </a:rPr>
              <a:t>Hipótesis Nula H0</a:t>
            </a:r>
            <a:endParaRPr b="1">
              <a:solidFill>
                <a:schemeClr val="dk1"/>
              </a:solidFill>
            </a:endParaRPr>
          </a:p>
          <a:p>
            <a:pPr indent="0" lvl="0" marL="0" rtl="0" algn="l">
              <a:spcBef>
                <a:spcPts val="1200"/>
              </a:spcBef>
              <a:spcAft>
                <a:spcPts val="0"/>
              </a:spcAft>
              <a:buClr>
                <a:schemeClr val="dk1"/>
              </a:buClr>
              <a:buSzPts val="1100"/>
              <a:buFont typeface="Arial"/>
              <a:buNone/>
            </a:pPr>
            <a:r>
              <a:rPr lang="es">
                <a:solidFill>
                  <a:schemeClr val="dk1"/>
                </a:solidFill>
              </a:rPr>
              <a:t>• El nivel de desempleo en Chile se ha mantenido sin cambios.</a:t>
            </a:r>
            <a:endParaRPr>
              <a:solidFill>
                <a:schemeClr val="dk1"/>
              </a:solidFill>
            </a:endParaRPr>
          </a:p>
          <a:p>
            <a:pPr indent="0" lvl="0" marL="0" rtl="0" algn="l">
              <a:spcBef>
                <a:spcPts val="1200"/>
              </a:spcBef>
              <a:spcAft>
                <a:spcPts val="0"/>
              </a:spcAft>
              <a:buClr>
                <a:schemeClr val="dk1"/>
              </a:buClr>
              <a:buSzPts val="1100"/>
              <a:buFont typeface="Arial"/>
              <a:buNone/>
            </a:pPr>
            <a:r>
              <a:rPr lang="es">
                <a:solidFill>
                  <a:schemeClr val="dk1"/>
                </a:solidFill>
              </a:rPr>
              <a:t>• La altura de la madre no tiene efecto sobre la altura de los hijos.</a:t>
            </a:r>
            <a:endParaRPr>
              <a:solidFill>
                <a:schemeClr val="dk1"/>
              </a:solidFill>
            </a:endParaRPr>
          </a:p>
          <a:p>
            <a:pPr indent="0" lvl="0" marL="0" rtl="0" algn="l">
              <a:spcBef>
                <a:spcPts val="1200"/>
              </a:spcBef>
              <a:spcAft>
                <a:spcPts val="0"/>
              </a:spcAft>
              <a:buClr>
                <a:schemeClr val="dk1"/>
              </a:buClr>
              <a:buSzPts val="1100"/>
              <a:buFont typeface="Arial"/>
              <a:buNone/>
            </a:pPr>
            <a:r>
              <a:rPr lang="es">
                <a:solidFill>
                  <a:schemeClr val="dk1"/>
                </a:solidFill>
              </a:rPr>
              <a:t>• El bosón de Higgs no existe.</a:t>
            </a:r>
            <a:endParaRPr>
              <a:solidFill>
                <a:schemeClr val="dk1"/>
              </a:solidFill>
            </a:endParaRPr>
          </a:p>
          <a:p>
            <a:pPr indent="0" lvl="0" marL="0" rtl="0" algn="l">
              <a:spcBef>
                <a:spcPts val="1200"/>
              </a:spcBef>
              <a:spcAft>
                <a:spcPts val="1200"/>
              </a:spcAft>
              <a:buNone/>
            </a:pPr>
            <a:r>
              <a:t/>
            </a:r>
            <a:endParaRPr/>
          </a:p>
        </p:txBody>
      </p:sp>
      <p:sp>
        <p:nvSpPr>
          <p:cNvPr id="197" name="Google Shape;197;p36"/>
          <p:cNvSpPr txBox="1"/>
          <p:nvPr>
            <p:ph idx="1" type="body"/>
          </p:nvPr>
        </p:nvSpPr>
        <p:spPr>
          <a:xfrm>
            <a:off x="4806650" y="1152475"/>
            <a:ext cx="38409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Clr>
                <a:schemeClr val="dk1"/>
              </a:buClr>
              <a:buSzPts val="1100"/>
              <a:buFont typeface="Arial"/>
              <a:buNone/>
            </a:pPr>
            <a:r>
              <a:rPr b="1" lang="es">
                <a:solidFill>
                  <a:schemeClr val="dk1"/>
                </a:solidFill>
              </a:rPr>
              <a:t>Hipótesis alternativa HA</a:t>
            </a:r>
            <a:endParaRPr b="1">
              <a:solidFill>
                <a:schemeClr val="dk1"/>
              </a:solidFill>
            </a:endParaRPr>
          </a:p>
          <a:p>
            <a:pPr indent="0" lvl="0" marL="0" rtl="0" algn="just">
              <a:spcBef>
                <a:spcPts val="1200"/>
              </a:spcBef>
              <a:spcAft>
                <a:spcPts val="0"/>
              </a:spcAft>
              <a:buClr>
                <a:schemeClr val="dk1"/>
              </a:buClr>
              <a:buSzPts val="1100"/>
              <a:buFont typeface="Arial"/>
              <a:buNone/>
            </a:pPr>
            <a:r>
              <a:rPr lang="es">
                <a:solidFill>
                  <a:schemeClr val="dk1"/>
                </a:solidFill>
              </a:rPr>
              <a:t>• El nivel de desempleo en Chile ha incrementado.</a:t>
            </a:r>
            <a:endParaRPr>
              <a:solidFill>
                <a:schemeClr val="dk1"/>
              </a:solidFill>
            </a:endParaRPr>
          </a:p>
          <a:p>
            <a:pPr indent="0" lvl="0" marL="0" rtl="0" algn="just">
              <a:spcBef>
                <a:spcPts val="1200"/>
              </a:spcBef>
              <a:spcAft>
                <a:spcPts val="0"/>
              </a:spcAft>
              <a:buClr>
                <a:schemeClr val="dk1"/>
              </a:buClr>
              <a:buSzPts val="1100"/>
              <a:buFont typeface="Arial"/>
              <a:buNone/>
            </a:pPr>
            <a:r>
              <a:rPr lang="es">
                <a:solidFill>
                  <a:schemeClr val="dk1"/>
                </a:solidFill>
              </a:rPr>
              <a:t>• La altura de la madre tiene efecto sobre la altura de los hijos.</a:t>
            </a:r>
            <a:endParaRPr>
              <a:solidFill>
                <a:schemeClr val="dk1"/>
              </a:solidFill>
            </a:endParaRPr>
          </a:p>
          <a:p>
            <a:pPr indent="0" lvl="0" marL="0" rtl="0" algn="just">
              <a:spcBef>
                <a:spcPts val="1200"/>
              </a:spcBef>
              <a:spcAft>
                <a:spcPts val="1200"/>
              </a:spcAft>
              <a:buClr>
                <a:schemeClr val="dk1"/>
              </a:buClr>
              <a:buSzPts val="1100"/>
              <a:buFont typeface="Arial"/>
              <a:buNone/>
            </a:pPr>
            <a:r>
              <a:rPr lang="es">
                <a:solidFill>
                  <a:schemeClr val="dk1"/>
                </a:solidFill>
              </a:rPr>
              <a:t>• El bosón de Higgs existe</a:t>
            </a:r>
            <a:endParaRPr>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t>Objetivos </a:t>
            </a:r>
            <a:endParaRPr b="1"/>
          </a:p>
        </p:txBody>
      </p:sp>
      <p:sp>
        <p:nvSpPr>
          <p:cNvPr id="203" name="Google Shape;203;p37"/>
          <p:cNvSpPr txBox="1"/>
          <p:nvPr>
            <p:ph idx="1" type="body"/>
          </p:nvPr>
        </p:nvSpPr>
        <p:spPr>
          <a:xfrm>
            <a:off x="311700" y="1152475"/>
            <a:ext cx="8520600" cy="3703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s" sz="1400">
                <a:solidFill>
                  <a:schemeClr val="dk1"/>
                </a:solidFill>
              </a:rPr>
              <a:t>D</a:t>
            </a:r>
            <a:r>
              <a:rPr lang="es" sz="1400">
                <a:solidFill>
                  <a:schemeClr val="dk1"/>
                </a:solidFill>
              </a:rPr>
              <a:t>eben expresarse con claridad para evitar posibles desviaciones en el proceso de investigación y deben ser susceptibles de alcanzarse; son las guías del estudio y durante todo el desarrollo del mismo deben tenerse presentes.</a:t>
            </a:r>
            <a:endParaRPr sz="1400">
              <a:solidFill>
                <a:schemeClr val="dk1"/>
              </a:solidFill>
            </a:endParaRPr>
          </a:p>
          <a:p>
            <a:pPr indent="0" lvl="0" marL="0" rtl="0" algn="l">
              <a:lnSpc>
                <a:spcPct val="100000"/>
              </a:lnSpc>
              <a:spcBef>
                <a:spcPts val="0"/>
              </a:spcBef>
              <a:spcAft>
                <a:spcPts val="0"/>
              </a:spcAft>
              <a:buNone/>
            </a:pPr>
            <a:r>
              <a:t/>
            </a:r>
            <a:endParaRPr sz="1400">
              <a:solidFill>
                <a:schemeClr val="dk1"/>
              </a:solidFill>
            </a:endParaRPr>
          </a:p>
          <a:p>
            <a:pPr indent="0" lvl="0" marL="0" rtl="0" algn="l">
              <a:lnSpc>
                <a:spcPct val="100000"/>
              </a:lnSpc>
              <a:spcBef>
                <a:spcPts val="0"/>
              </a:spcBef>
              <a:spcAft>
                <a:spcPts val="0"/>
              </a:spcAft>
              <a:buNone/>
            </a:pPr>
            <a:r>
              <a:rPr b="1" lang="es" sz="1400">
                <a:solidFill>
                  <a:schemeClr val="dk1"/>
                </a:solidFill>
              </a:rPr>
              <a:t>Criterios para redactar correctamente los objetivos</a:t>
            </a:r>
            <a:endParaRPr b="1" sz="1400">
              <a:solidFill>
                <a:schemeClr val="dk1"/>
              </a:solidFill>
            </a:endParaRPr>
          </a:p>
          <a:p>
            <a:pPr indent="0" lvl="0" marL="0" rtl="0" algn="l">
              <a:lnSpc>
                <a:spcPct val="100000"/>
              </a:lnSpc>
              <a:spcBef>
                <a:spcPts val="0"/>
              </a:spcBef>
              <a:spcAft>
                <a:spcPts val="0"/>
              </a:spcAft>
              <a:buNone/>
            </a:pPr>
            <a:r>
              <a:rPr lang="es" sz="1400">
                <a:solidFill>
                  <a:schemeClr val="dk1"/>
                </a:solidFill>
              </a:rPr>
              <a:t>1. Se redactan comenzando con un verbo en infinitivo (determinar, demostrar, evaluar, relacionar) que</a:t>
            </a:r>
            <a:endParaRPr sz="1400">
              <a:solidFill>
                <a:schemeClr val="dk1"/>
              </a:solidFill>
            </a:endParaRPr>
          </a:p>
          <a:p>
            <a:pPr indent="0" lvl="0" marL="0" rtl="0" algn="l">
              <a:lnSpc>
                <a:spcPct val="100000"/>
              </a:lnSpc>
              <a:spcBef>
                <a:spcPts val="0"/>
              </a:spcBef>
              <a:spcAft>
                <a:spcPts val="0"/>
              </a:spcAft>
              <a:buNone/>
            </a:pPr>
            <a:r>
              <a:rPr lang="es" sz="1400">
                <a:solidFill>
                  <a:schemeClr val="dk1"/>
                </a:solidFill>
              </a:rPr>
              <a:t>indique la acción que se ha de llevar a cabo en la investigación.</a:t>
            </a:r>
            <a:endParaRPr sz="1400">
              <a:solidFill>
                <a:schemeClr val="dk1"/>
              </a:solidFill>
            </a:endParaRPr>
          </a:p>
          <a:p>
            <a:pPr indent="0" lvl="0" marL="0" rtl="0" algn="l">
              <a:lnSpc>
                <a:spcPct val="100000"/>
              </a:lnSpc>
              <a:spcBef>
                <a:spcPts val="0"/>
              </a:spcBef>
              <a:spcAft>
                <a:spcPts val="0"/>
              </a:spcAft>
              <a:buNone/>
            </a:pPr>
            <a:r>
              <a:rPr lang="es" sz="1400">
                <a:solidFill>
                  <a:schemeClr val="dk1"/>
                </a:solidFill>
              </a:rPr>
              <a:t>2. Deben estar dirigidos a los elementos básicos del problema.</a:t>
            </a:r>
            <a:endParaRPr sz="1400">
              <a:solidFill>
                <a:schemeClr val="dk1"/>
              </a:solidFill>
            </a:endParaRPr>
          </a:p>
          <a:p>
            <a:pPr indent="0" lvl="0" marL="0" rtl="0" algn="l">
              <a:lnSpc>
                <a:spcPct val="100000"/>
              </a:lnSpc>
              <a:spcBef>
                <a:spcPts val="0"/>
              </a:spcBef>
              <a:spcAft>
                <a:spcPts val="0"/>
              </a:spcAft>
              <a:buNone/>
            </a:pPr>
            <a:r>
              <a:rPr lang="es" sz="1400">
                <a:solidFill>
                  <a:schemeClr val="dk1"/>
                </a:solidFill>
              </a:rPr>
              <a:t>3. Deben ser factibles de alcanzar.</a:t>
            </a:r>
            <a:endParaRPr sz="1400">
              <a:solidFill>
                <a:schemeClr val="dk1"/>
              </a:solidFill>
            </a:endParaRPr>
          </a:p>
          <a:p>
            <a:pPr indent="0" lvl="0" marL="0" rtl="0" algn="l">
              <a:lnSpc>
                <a:spcPct val="100000"/>
              </a:lnSpc>
              <a:spcBef>
                <a:spcPts val="0"/>
              </a:spcBef>
              <a:spcAft>
                <a:spcPts val="0"/>
              </a:spcAft>
              <a:buNone/>
            </a:pPr>
            <a:r>
              <a:rPr lang="es" sz="1400">
                <a:solidFill>
                  <a:schemeClr val="dk1"/>
                </a:solidFill>
              </a:rPr>
              <a:t>4. Deben ser claros, evitar la ambigüedad. Expresiones que no indiquen claramente lo que se va a</a:t>
            </a:r>
            <a:endParaRPr sz="1400">
              <a:solidFill>
                <a:schemeClr val="dk1"/>
              </a:solidFill>
            </a:endParaRPr>
          </a:p>
          <a:p>
            <a:pPr indent="0" lvl="0" marL="0" rtl="0" algn="l">
              <a:lnSpc>
                <a:spcPct val="100000"/>
              </a:lnSpc>
              <a:spcBef>
                <a:spcPts val="0"/>
              </a:spcBef>
              <a:spcAft>
                <a:spcPts val="0"/>
              </a:spcAft>
              <a:buNone/>
            </a:pPr>
            <a:r>
              <a:rPr lang="es" sz="1400">
                <a:solidFill>
                  <a:schemeClr val="dk1"/>
                </a:solidFill>
              </a:rPr>
              <a:t>realizar deben evitarse en la redacción de los objetivos, por ejemplo los términos “adecuado”, “bien</a:t>
            </a:r>
            <a:endParaRPr sz="1400">
              <a:solidFill>
                <a:schemeClr val="dk1"/>
              </a:solidFill>
            </a:endParaRPr>
          </a:p>
          <a:p>
            <a:pPr indent="0" lvl="0" marL="0" rtl="0" algn="l">
              <a:lnSpc>
                <a:spcPct val="100000"/>
              </a:lnSpc>
              <a:spcBef>
                <a:spcPts val="0"/>
              </a:spcBef>
              <a:spcAft>
                <a:spcPts val="0"/>
              </a:spcAft>
              <a:buNone/>
            </a:pPr>
            <a:r>
              <a:rPr lang="es" sz="1400">
                <a:solidFill>
                  <a:schemeClr val="dk1"/>
                </a:solidFill>
              </a:rPr>
              <a:t>hecho”, “lógico”, “útil”, pueden ser interpretados de diferentes maneras y, por lo tanto, no deben ser</a:t>
            </a:r>
            <a:endParaRPr sz="1400">
              <a:solidFill>
                <a:schemeClr val="dk1"/>
              </a:solidFill>
            </a:endParaRPr>
          </a:p>
          <a:p>
            <a:pPr indent="0" lvl="0" marL="0" rtl="0" algn="l">
              <a:lnSpc>
                <a:spcPct val="100000"/>
              </a:lnSpc>
              <a:spcBef>
                <a:spcPts val="0"/>
              </a:spcBef>
              <a:spcAft>
                <a:spcPts val="0"/>
              </a:spcAft>
              <a:buNone/>
            </a:pPr>
            <a:r>
              <a:rPr lang="es" sz="1400">
                <a:solidFill>
                  <a:schemeClr val="dk1"/>
                </a:solidFill>
              </a:rPr>
              <a:t>utilizadas.</a:t>
            </a:r>
            <a:endParaRPr sz="1400">
              <a:solidFill>
                <a:schemeClr val="dk1"/>
              </a:solidFill>
            </a:endParaRPr>
          </a:p>
          <a:p>
            <a:pPr indent="0" lvl="0" marL="0" rtl="0" algn="l">
              <a:lnSpc>
                <a:spcPct val="100000"/>
              </a:lnSpc>
              <a:spcBef>
                <a:spcPts val="0"/>
              </a:spcBef>
              <a:spcAft>
                <a:spcPts val="0"/>
              </a:spcAft>
              <a:buNone/>
            </a:pPr>
            <a:r>
              <a:rPr lang="es" sz="1400">
                <a:solidFill>
                  <a:schemeClr val="dk1"/>
                </a:solidFill>
              </a:rPr>
              <a:t>5. Deben ser precisos, es decir, contemplar un solo aspecto del problema.</a:t>
            </a:r>
            <a:endParaRPr sz="1400">
              <a:solidFill>
                <a:schemeClr val="dk1"/>
              </a:solidFill>
            </a:endParaRPr>
          </a:p>
          <a:p>
            <a:pPr indent="0" lvl="0" marL="0" rtl="0" algn="l">
              <a:lnSpc>
                <a:spcPct val="100000"/>
              </a:lnSpc>
              <a:spcBef>
                <a:spcPts val="0"/>
              </a:spcBef>
              <a:spcAft>
                <a:spcPts val="0"/>
              </a:spcAft>
              <a:buNone/>
            </a:pPr>
            <a:r>
              <a:rPr lang="es" sz="1400">
                <a:solidFill>
                  <a:schemeClr val="dk1"/>
                </a:solidFill>
              </a:rPr>
              <a:t>6. Los objetivos específicos deben seguir una secuencia lógica que indique los pasos o etapas que sé</a:t>
            </a:r>
            <a:endParaRPr sz="1400">
              <a:solidFill>
                <a:schemeClr val="dk1"/>
              </a:solidFill>
            </a:endParaRPr>
          </a:p>
          <a:p>
            <a:pPr indent="0" lvl="0" marL="0" rtl="0" algn="l">
              <a:lnSpc>
                <a:spcPct val="100000"/>
              </a:lnSpc>
              <a:spcBef>
                <a:spcPts val="0"/>
              </a:spcBef>
              <a:spcAft>
                <a:spcPts val="0"/>
              </a:spcAft>
              <a:buNone/>
            </a:pPr>
            <a:r>
              <a:rPr lang="es" sz="1400">
                <a:solidFill>
                  <a:schemeClr val="dk1"/>
                </a:solidFill>
              </a:rPr>
              <a:t>han de cumplir para lograr el objetivo general.</a:t>
            </a:r>
            <a:endParaRPr sz="14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100">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pic>
        <p:nvPicPr>
          <p:cNvPr id="208" name="Google Shape;208;p38"/>
          <p:cNvPicPr preferRelativeResize="0"/>
          <p:nvPr/>
        </p:nvPicPr>
        <p:blipFill>
          <a:blip r:embed="rId3">
            <a:alphaModFix/>
          </a:blip>
          <a:stretch>
            <a:fillRect/>
          </a:stretch>
        </p:blipFill>
        <p:spPr>
          <a:xfrm>
            <a:off x="425500" y="872600"/>
            <a:ext cx="8406798" cy="37249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t>Materiales y m</a:t>
            </a:r>
            <a:r>
              <a:rPr b="1" lang="es"/>
              <a:t>étodo. Experimentación en Ingeniería</a:t>
            </a:r>
            <a:endParaRPr b="1"/>
          </a:p>
        </p:txBody>
      </p:sp>
      <p:sp>
        <p:nvSpPr>
          <p:cNvPr id="214" name="Google Shape;214;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25000"/>
          </a:bodyPr>
          <a:lstStyle/>
          <a:p>
            <a:pPr indent="-314325" lvl="0" marL="457200" rtl="0" algn="l">
              <a:spcBef>
                <a:spcPts val="0"/>
              </a:spcBef>
              <a:spcAft>
                <a:spcPts val="0"/>
              </a:spcAft>
              <a:buClr>
                <a:schemeClr val="dk1"/>
              </a:buClr>
              <a:buSzPct val="100000"/>
              <a:buChar char="●"/>
            </a:pPr>
            <a:r>
              <a:rPr lang="es" sz="5400">
                <a:solidFill>
                  <a:schemeClr val="dk1"/>
                </a:solidFill>
              </a:rPr>
              <a:t>Describir la población a estudiar.</a:t>
            </a:r>
            <a:endParaRPr sz="5400">
              <a:solidFill>
                <a:schemeClr val="dk1"/>
              </a:solidFill>
            </a:endParaRPr>
          </a:p>
          <a:p>
            <a:pPr indent="-314325" lvl="0" marL="457200" rtl="0" algn="l">
              <a:spcBef>
                <a:spcPts val="0"/>
              </a:spcBef>
              <a:spcAft>
                <a:spcPts val="0"/>
              </a:spcAft>
              <a:buClr>
                <a:schemeClr val="dk1"/>
              </a:buClr>
              <a:buSzPct val="100000"/>
              <a:buChar char="●"/>
            </a:pPr>
            <a:r>
              <a:rPr lang="es" sz="5400">
                <a:solidFill>
                  <a:schemeClr val="dk1"/>
                </a:solidFill>
              </a:rPr>
              <a:t>Definir la unidad de análisis.</a:t>
            </a:r>
            <a:endParaRPr sz="5400">
              <a:solidFill>
                <a:schemeClr val="dk1"/>
              </a:solidFill>
            </a:endParaRPr>
          </a:p>
          <a:p>
            <a:pPr indent="-314325" lvl="0" marL="457200" rtl="0" algn="l">
              <a:spcBef>
                <a:spcPts val="0"/>
              </a:spcBef>
              <a:spcAft>
                <a:spcPts val="0"/>
              </a:spcAft>
              <a:buClr>
                <a:schemeClr val="dk1"/>
              </a:buClr>
              <a:buSzPct val="100000"/>
              <a:buChar char="●"/>
            </a:pPr>
            <a:r>
              <a:rPr lang="es" sz="5400">
                <a:solidFill>
                  <a:schemeClr val="dk1"/>
                </a:solidFill>
              </a:rPr>
              <a:t>Definir variable temporal.</a:t>
            </a:r>
            <a:endParaRPr sz="5400">
              <a:solidFill>
                <a:schemeClr val="dk1"/>
              </a:solidFill>
            </a:endParaRPr>
          </a:p>
          <a:p>
            <a:pPr indent="-314325" lvl="0" marL="457200" rtl="0" algn="l">
              <a:spcBef>
                <a:spcPts val="0"/>
              </a:spcBef>
              <a:spcAft>
                <a:spcPts val="0"/>
              </a:spcAft>
              <a:buClr>
                <a:schemeClr val="dk1"/>
              </a:buClr>
              <a:buSzPct val="100000"/>
              <a:buChar char="●"/>
            </a:pPr>
            <a:r>
              <a:rPr lang="es" sz="5400">
                <a:solidFill>
                  <a:schemeClr val="dk1"/>
                </a:solidFill>
              </a:rPr>
              <a:t>Describir las variables del estudio.</a:t>
            </a:r>
            <a:endParaRPr sz="5400">
              <a:solidFill>
                <a:schemeClr val="dk1"/>
              </a:solidFill>
            </a:endParaRPr>
          </a:p>
          <a:p>
            <a:pPr indent="-314325" lvl="0" marL="457200" rtl="0" algn="l">
              <a:spcBef>
                <a:spcPts val="0"/>
              </a:spcBef>
              <a:spcAft>
                <a:spcPts val="0"/>
              </a:spcAft>
              <a:buClr>
                <a:schemeClr val="dk1"/>
              </a:buClr>
              <a:buSzPct val="100000"/>
              <a:buChar char="●"/>
            </a:pPr>
            <a:r>
              <a:rPr lang="es" sz="5400">
                <a:solidFill>
                  <a:schemeClr val="dk1"/>
                </a:solidFill>
              </a:rPr>
              <a:t>Tipo de estudio.</a:t>
            </a:r>
            <a:endParaRPr sz="5400">
              <a:solidFill>
                <a:schemeClr val="dk1"/>
              </a:solidFill>
            </a:endParaRPr>
          </a:p>
          <a:p>
            <a:pPr indent="-314325" lvl="0" marL="457200" rtl="0" algn="l">
              <a:spcBef>
                <a:spcPts val="0"/>
              </a:spcBef>
              <a:spcAft>
                <a:spcPts val="0"/>
              </a:spcAft>
              <a:buClr>
                <a:schemeClr val="dk1"/>
              </a:buClr>
              <a:buSzPct val="100000"/>
              <a:buChar char="●"/>
            </a:pPr>
            <a:r>
              <a:rPr lang="es" sz="5400">
                <a:solidFill>
                  <a:schemeClr val="dk1"/>
                </a:solidFill>
              </a:rPr>
              <a:t>Criterios de inclusión y exclusión de la muestra.</a:t>
            </a:r>
            <a:endParaRPr sz="5400">
              <a:solidFill>
                <a:schemeClr val="dk1"/>
              </a:solidFill>
            </a:endParaRPr>
          </a:p>
          <a:p>
            <a:pPr indent="-314325" lvl="0" marL="457200" rtl="0" algn="l">
              <a:spcBef>
                <a:spcPts val="0"/>
              </a:spcBef>
              <a:spcAft>
                <a:spcPts val="0"/>
              </a:spcAft>
              <a:buClr>
                <a:schemeClr val="dk1"/>
              </a:buClr>
              <a:buSzPct val="100000"/>
              <a:buChar char="●"/>
            </a:pPr>
            <a:r>
              <a:rPr lang="es" sz="5400">
                <a:solidFill>
                  <a:schemeClr val="dk1"/>
                </a:solidFill>
              </a:rPr>
              <a:t>Describir detalladamente la forma de recopilar antecedentes de su muestra previo a la medición.</a:t>
            </a:r>
            <a:endParaRPr sz="5400">
              <a:solidFill>
                <a:schemeClr val="dk1"/>
              </a:solidFill>
            </a:endParaRPr>
          </a:p>
          <a:p>
            <a:pPr indent="-314325" lvl="0" marL="457200" rtl="0" algn="l">
              <a:spcBef>
                <a:spcPts val="0"/>
              </a:spcBef>
              <a:spcAft>
                <a:spcPts val="0"/>
              </a:spcAft>
              <a:buClr>
                <a:schemeClr val="dk1"/>
              </a:buClr>
              <a:buSzPct val="100000"/>
              <a:buChar char="●"/>
            </a:pPr>
            <a:r>
              <a:rPr lang="es" sz="5400">
                <a:solidFill>
                  <a:schemeClr val="dk1"/>
                </a:solidFill>
              </a:rPr>
              <a:t>Encuestas, test, etc.</a:t>
            </a:r>
            <a:endParaRPr sz="5400">
              <a:solidFill>
                <a:schemeClr val="dk1"/>
              </a:solidFill>
            </a:endParaRPr>
          </a:p>
          <a:p>
            <a:pPr indent="-314325" lvl="0" marL="457200" rtl="0" algn="l">
              <a:spcBef>
                <a:spcPts val="0"/>
              </a:spcBef>
              <a:spcAft>
                <a:spcPts val="0"/>
              </a:spcAft>
              <a:buClr>
                <a:schemeClr val="dk1"/>
              </a:buClr>
              <a:buSzPct val="100000"/>
              <a:buChar char="●"/>
            </a:pPr>
            <a:r>
              <a:rPr lang="es" sz="5400">
                <a:solidFill>
                  <a:schemeClr val="dk1"/>
                </a:solidFill>
              </a:rPr>
              <a:t>Describir detalladamente el procedimiento para evaluar a la muestra. </a:t>
            </a:r>
            <a:endParaRPr sz="5400">
              <a:solidFill>
                <a:schemeClr val="dk1"/>
              </a:solidFill>
            </a:endParaRPr>
          </a:p>
          <a:p>
            <a:pPr indent="-314325" lvl="0" marL="457200" rtl="0" algn="l">
              <a:spcBef>
                <a:spcPts val="0"/>
              </a:spcBef>
              <a:spcAft>
                <a:spcPts val="0"/>
              </a:spcAft>
              <a:buClr>
                <a:srgbClr val="FF0000"/>
              </a:buClr>
              <a:buSzPct val="100000"/>
              <a:buChar char="●"/>
            </a:pPr>
            <a:r>
              <a:rPr lang="es" sz="5400">
                <a:solidFill>
                  <a:srgbClr val="FF0000"/>
                </a:solidFill>
              </a:rPr>
              <a:t>Plan de tabulación de los datos.</a:t>
            </a:r>
            <a:endParaRPr sz="5400">
              <a:solidFill>
                <a:srgbClr val="FF0000"/>
              </a:solidFill>
            </a:endParaRPr>
          </a:p>
          <a:p>
            <a:pPr indent="-314325" lvl="0" marL="457200" rtl="0" algn="l">
              <a:spcBef>
                <a:spcPts val="0"/>
              </a:spcBef>
              <a:spcAft>
                <a:spcPts val="0"/>
              </a:spcAft>
              <a:buClr>
                <a:srgbClr val="FF0000"/>
              </a:buClr>
              <a:buSzPct val="100000"/>
              <a:buChar char="●"/>
            </a:pPr>
            <a:r>
              <a:rPr lang="es" sz="5400">
                <a:solidFill>
                  <a:srgbClr val="FF0000"/>
                </a:solidFill>
              </a:rPr>
              <a:t>Procesamiento y análisis de los datos.</a:t>
            </a:r>
            <a:endParaRPr sz="5400">
              <a:solidFill>
                <a:srgbClr val="FF0000"/>
              </a:solidFill>
            </a:endParaRPr>
          </a:p>
          <a:p>
            <a:pPr indent="-314325" lvl="0" marL="457200" rtl="0" algn="l">
              <a:spcBef>
                <a:spcPts val="0"/>
              </a:spcBef>
              <a:spcAft>
                <a:spcPts val="0"/>
              </a:spcAft>
              <a:buClr>
                <a:schemeClr val="dk1"/>
              </a:buClr>
              <a:buSzPct val="100000"/>
              <a:buChar char="●"/>
            </a:pPr>
            <a:r>
              <a:rPr lang="es" sz="5400">
                <a:solidFill>
                  <a:schemeClr val="dk1"/>
                </a:solidFill>
              </a:rPr>
              <a:t>Construcción del consentimiento informado.</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t>Recolecci</a:t>
            </a:r>
            <a:r>
              <a:rPr b="1" lang="es"/>
              <a:t>ón de datos</a:t>
            </a:r>
            <a:endParaRPr b="1"/>
          </a:p>
        </p:txBody>
      </p:sp>
      <p:sp>
        <p:nvSpPr>
          <p:cNvPr id="220" name="Google Shape;220;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1200"/>
              </a:spcBef>
              <a:spcAft>
                <a:spcPts val="0"/>
              </a:spcAft>
              <a:buClr>
                <a:schemeClr val="dk1"/>
              </a:buClr>
              <a:buSzPts val="1100"/>
              <a:buFont typeface="Arial"/>
              <a:buNone/>
            </a:pPr>
            <a:r>
              <a:rPr lang="es">
                <a:solidFill>
                  <a:schemeClr val="dk1"/>
                </a:solidFill>
              </a:rPr>
              <a:t>Es el proceso de obtener información relevante para responder la pregunta de investigación.</a:t>
            </a:r>
            <a:endParaRPr>
              <a:solidFill>
                <a:schemeClr val="dk1"/>
              </a:solidFill>
            </a:endParaRPr>
          </a:p>
          <a:p>
            <a:pPr indent="-317500" lvl="0" marL="457200" rtl="0" algn="l">
              <a:spcBef>
                <a:spcPts val="1200"/>
              </a:spcBef>
              <a:spcAft>
                <a:spcPts val="0"/>
              </a:spcAft>
              <a:buClr>
                <a:schemeClr val="dk1"/>
              </a:buClr>
              <a:buSzPts val="1400"/>
              <a:buChar char="●"/>
            </a:pPr>
            <a:r>
              <a:rPr b="1" lang="es" sz="1400">
                <a:solidFill>
                  <a:schemeClr val="dk1"/>
                </a:solidFill>
              </a:rPr>
              <a:t>Encuestas y Cuestionarios</a:t>
            </a:r>
            <a:r>
              <a:rPr lang="es" sz="1400">
                <a:solidFill>
                  <a:schemeClr val="dk1"/>
                </a:solidFill>
              </a:rPr>
              <a:t> </a:t>
            </a:r>
            <a:endParaRPr sz="1400">
              <a:solidFill>
                <a:schemeClr val="dk1"/>
              </a:solidFill>
            </a:endParaRPr>
          </a:p>
          <a:p>
            <a:pPr indent="-317500" lvl="0" marL="457200" rtl="0" algn="l">
              <a:spcBef>
                <a:spcPts val="0"/>
              </a:spcBef>
              <a:spcAft>
                <a:spcPts val="0"/>
              </a:spcAft>
              <a:buClr>
                <a:schemeClr val="dk1"/>
              </a:buClr>
              <a:buSzPts val="1400"/>
              <a:buChar char="●"/>
            </a:pPr>
            <a:r>
              <a:rPr b="1" lang="es" sz="1400">
                <a:solidFill>
                  <a:schemeClr val="dk1"/>
                </a:solidFill>
              </a:rPr>
              <a:t>Observación Directa</a:t>
            </a:r>
            <a:r>
              <a:rPr lang="es" sz="1400">
                <a:solidFill>
                  <a:schemeClr val="dk1"/>
                </a:solidFill>
              </a:rPr>
              <a:t> </a:t>
            </a:r>
            <a:endParaRPr sz="1400">
              <a:solidFill>
                <a:schemeClr val="dk1"/>
              </a:solidFill>
            </a:endParaRPr>
          </a:p>
          <a:p>
            <a:pPr indent="-317500" lvl="0" marL="457200" rtl="0" algn="l">
              <a:spcBef>
                <a:spcPts val="0"/>
              </a:spcBef>
              <a:spcAft>
                <a:spcPts val="0"/>
              </a:spcAft>
              <a:buClr>
                <a:schemeClr val="dk1"/>
              </a:buClr>
              <a:buSzPts val="1400"/>
              <a:buChar char="●"/>
            </a:pPr>
            <a:r>
              <a:rPr b="1" lang="es" sz="1400">
                <a:solidFill>
                  <a:schemeClr val="dk1"/>
                </a:solidFill>
              </a:rPr>
              <a:t>Experimentos Controlados</a:t>
            </a:r>
            <a:r>
              <a:rPr lang="es" sz="1400">
                <a:solidFill>
                  <a:schemeClr val="dk1"/>
                </a:solidFill>
              </a:rPr>
              <a:t> </a:t>
            </a:r>
            <a:endParaRPr sz="1400">
              <a:solidFill>
                <a:schemeClr val="dk1"/>
              </a:solidFill>
            </a:endParaRPr>
          </a:p>
          <a:p>
            <a:pPr indent="-317500" lvl="0" marL="457200" rtl="0" algn="l">
              <a:spcBef>
                <a:spcPts val="0"/>
              </a:spcBef>
              <a:spcAft>
                <a:spcPts val="0"/>
              </a:spcAft>
              <a:buClr>
                <a:schemeClr val="dk1"/>
              </a:buClr>
              <a:buSzPts val="1400"/>
              <a:buChar char="●"/>
            </a:pPr>
            <a:r>
              <a:rPr b="1" lang="es" sz="1400">
                <a:solidFill>
                  <a:schemeClr val="dk1"/>
                </a:solidFill>
              </a:rPr>
              <a:t>Análisis de Datos Secundarios</a:t>
            </a:r>
            <a:r>
              <a:rPr lang="es" sz="1400">
                <a:solidFill>
                  <a:schemeClr val="dk1"/>
                </a:solidFill>
              </a:rPr>
              <a:t> </a:t>
            </a:r>
            <a:endParaRPr sz="1400">
              <a:solidFill>
                <a:schemeClr val="dk1"/>
              </a:solidFill>
            </a:endParaRPr>
          </a:p>
          <a:p>
            <a:pPr indent="-317500" lvl="0" marL="457200" rtl="0" algn="l">
              <a:spcBef>
                <a:spcPts val="0"/>
              </a:spcBef>
              <a:spcAft>
                <a:spcPts val="0"/>
              </a:spcAft>
              <a:buClr>
                <a:schemeClr val="dk1"/>
              </a:buClr>
              <a:buSzPts val="1400"/>
              <a:buChar char="●"/>
            </a:pPr>
            <a:r>
              <a:rPr b="1" lang="es" sz="1400">
                <a:solidFill>
                  <a:schemeClr val="dk1"/>
                </a:solidFill>
              </a:rPr>
              <a:t>Sensores y Dispositivos Tecnológicos</a:t>
            </a:r>
            <a:r>
              <a:rPr lang="es" sz="1400">
                <a:solidFill>
                  <a:schemeClr val="dk1"/>
                </a:solidFill>
              </a:rPr>
              <a:t> </a:t>
            </a:r>
            <a:endParaRPr sz="1400">
              <a:solidFill>
                <a:schemeClr val="dk1"/>
              </a:solidFill>
            </a:endParaRPr>
          </a:p>
          <a:p>
            <a:pPr indent="0" lvl="0" marL="0" rtl="0" algn="l">
              <a:spcBef>
                <a:spcPts val="1200"/>
              </a:spcBef>
              <a:spcAft>
                <a:spcPts val="0"/>
              </a:spcAft>
              <a:buNone/>
            </a:pPr>
            <a:r>
              <a:t/>
            </a:r>
            <a:endParaRPr sz="1400">
              <a:solidFill>
                <a:schemeClr val="dk1"/>
              </a:solidFill>
            </a:endParaRPr>
          </a:p>
          <a:p>
            <a:pPr indent="0" lvl="0" marL="0" rtl="0" algn="l">
              <a:spcBef>
                <a:spcPts val="1200"/>
              </a:spcBef>
              <a:spcAft>
                <a:spcPts val="0"/>
              </a:spcAft>
              <a:buClr>
                <a:schemeClr val="dk1"/>
              </a:buClr>
              <a:buSzPts val="1100"/>
              <a:buFont typeface="Arial"/>
              <a:buNone/>
            </a:pPr>
            <a:r>
              <a:rPr lang="es" sz="1400">
                <a:solidFill>
                  <a:schemeClr val="dk1"/>
                </a:solidFill>
              </a:rPr>
              <a:t>✔ </a:t>
            </a:r>
            <a:r>
              <a:rPr lang="es" sz="1400">
                <a:solidFill>
                  <a:schemeClr val="dk1"/>
                </a:solidFill>
              </a:rPr>
              <a:t>Definir claramente las variables a medir. ✔ Seleccionar el método adecuado según la investigación. ✔ Minimizar sesgos mediante la aleatorización y el control experimental. ✔ Garantizar la calidad y seguridad de los datos. ✔ Cumplir principios éticos y normativas.</a:t>
            </a:r>
            <a:endParaRPr sz="1400">
              <a:solidFill>
                <a:schemeClr val="dk1"/>
              </a:solidFill>
            </a:endParaRPr>
          </a:p>
          <a:p>
            <a:pPr indent="0" lvl="0" marL="0" rtl="0" algn="l">
              <a:spcBef>
                <a:spcPts val="1200"/>
              </a:spcBef>
              <a:spcAft>
                <a:spcPts val="1200"/>
              </a:spcAft>
              <a:buNone/>
            </a:pPr>
            <a:r>
              <a:t/>
            </a:r>
            <a:endParaRPr sz="1400">
              <a:solidFill>
                <a:schemeClr val="dk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4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400"/>
              </a:spcAft>
              <a:buNone/>
            </a:pPr>
            <a:r>
              <a:rPr b="1" lang="es" sz="2400"/>
              <a:t>Ética en el Siglo XX: Tratados y Declaraciones Internacionales</a:t>
            </a:r>
            <a:endParaRPr b="1" sz="2400"/>
          </a:p>
        </p:txBody>
      </p:sp>
      <p:sp>
        <p:nvSpPr>
          <p:cNvPr id="226" name="Google Shape;226;p41"/>
          <p:cNvSpPr txBox="1"/>
          <p:nvPr>
            <p:ph idx="1" type="body"/>
          </p:nvPr>
        </p:nvSpPr>
        <p:spPr>
          <a:xfrm>
            <a:off x="311700" y="1427800"/>
            <a:ext cx="8520600" cy="3416400"/>
          </a:xfrm>
          <a:prstGeom prst="rect">
            <a:avLst/>
          </a:prstGeom>
        </p:spPr>
        <p:txBody>
          <a:bodyPr anchorCtr="0" anchor="t" bIns="91425" lIns="91425" spcFirstLastPara="1" rIns="91425" wrap="square" tIns="91425">
            <a:normAutofit fontScale="85000" lnSpcReduction="10000"/>
          </a:bodyPr>
          <a:lstStyle/>
          <a:p>
            <a:pPr indent="0" lvl="0" marL="0" rtl="0" algn="l">
              <a:spcBef>
                <a:spcPts val="1200"/>
              </a:spcBef>
              <a:spcAft>
                <a:spcPts val="0"/>
              </a:spcAft>
              <a:buClr>
                <a:schemeClr val="dk1"/>
              </a:buClr>
              <a:buSzPct val="73333"/>
              <a:buFont typeface="Arial"/>
              <a:buNone/>
            </a:pPr>
            <a:r>
              <a:rPr lang="es" sz="1500">
                <a:solidFill>
                  <a:schemeClr val="dk1"/>
                </a:solidFill>
              </a:rPr>
              <a:t>Las guerras mundiales y los avances científicos hicieron necesario establecer tratados éticos para proteger la dignidad humana.</a:t>
            </a:r>
            <a:endParaRPr sz="1500">
              <a:solidFill>
                <a:schemeClr val="dk1"/>
              </a:solidFill>
            </a:endParaRPr>
          </a:p>
          <a:p>
            <a:pPr indent="-309562" lvl="0" marL="457200" rtl="0" algn="l">
              <a:spcBef>
                <a:spcPts val="1200"/>
              </a:spcBef>
              <a:spcAft>
                <a:spcPts val="0"/>
              </a:spcAft>
              <a:buClr>
                <a:schemeClr val="dk1"/>
              </a:buClr>
              <a:buSzPct val="100000"/>
              <a:buChar char="●"/>
            </a:pPr>
            <a:r>
              <a:rPr b="1" lang="es" sz="1500">
                <a:solidFill>
                  <a:schemeClr val="dk1"/>
                </a:solidFill>
              </a:rPr>
              <a:t>Código de Núremberg (1947)</a:t>
            </a:r>
            <a:r>
              <a:rPr lang="es" sz="1500">
                <a:solidFill>
                  <a:schemeClr val="dk1"/>
                </a:solidFill>
              </a:rPr>
              <a:t>: Nació tras los juicios de Núremberg para regular la investigación en seres humanos, estableciendo el </a:t>
            </a:r>
            <a:r>
              <a:rPr b="1" lang="es" sz="1500">
                <a:solidFill>
                  <a:schemeClr val="dk1"/>
                </a:solidFill>
              </a:rPr>
              <a:t>consentimiento informado</a:t>
            </a:r>
            <a:r>
              <a:rPr lang="es" sz="1500">
                <a:solidFill>
                  <a:schemeClr val="dk1"/>
                </a:solidFill>
              </a:rPr>
              <a:t>.</a:t>
            </a:r>
            <a:endParaRPr sz="1500">
              <a:solidFill>
                <a:schemeClr val="dk1"/>
              </a:solidFill>
            </a:endParaRPr>
          </a:p>
          <a:p>
            <a:pPr indent="-309562" lvl="0" marL="457200" rtl="0" algn="l">
              <a:spcBef>
                <a:spcPts val="0"/>
              </a:spcBef>
              <a:spcAft>
                <a:spcPts val="0"/>
              </a:spcAft>
              <a:buClr>
                <a:schemeClr val="dk1"/>
              </a:buClr>
              <a:buSzPct val="100000"/>
              <a:buChar char="●"/>
            </a:pPr>
            <a:r>
              <a:rPr b="1" lang="es" sz="1500">
                <a:solidFill>
                  <a:schemeClr val="dk1"/>
                </a:solidFill>
              </a:rPr>
              <a:t>Declaración Universal de los Derechos Humanos (1948)</a:t>
            </a:r>
            <a:r>
              <a:rPr lang="es" sz="1500">
                <a:solidFill>
                  <a:schemeClr val="dk1"/>
                </a:solidFill>
              </a:rPr>
              <a:t>: Proclamada por la ONU, reconoce la dignidad y los derechos fundamentales de todas las personas.</a:t>
            </a:r>
            <a:endParaRPr sz="1500">
              <a:solidFill>
                <a:schemeClr val="dk1"/>
              </a:solidFill>
            </a:endParaRPr>
          </a:p>
          <a:p>
            <a:pPr indent="-309562" lvl="0" marL="457200" rtl="0" algn="l">
              <a:spcBef>
                <a:spcPts val="0"/>
              </a:spcBef>
              <a:spcAft>
                <a:spcPts val="0"/>
              </a:spcAft>
              <a:buClr>
                <a:schemeClr val="dk1"/>
              </a:buClr>
              <a:buSzPct val="100000"/>
              <a:buChar char="●"/>
            </a:pPr>
            <a:r>
              <a:rPr b="1" lang="es" sz="1500">
                <a:solidFill>
                  <a:schemeClr val="dk1"/>
                </a:solidFill>
              </a:rPr>
              <a:t>Declaración de Ginebra (1948)</a:t>
            </a:r>
            <a:r>
              <a:rPr lang="es" sz="1500">
                <a:solidFill>
                  <a:schemeClr val="dk1"/>
                </a:solidFill>
              </a:rPr>
              <a:t>: Versión moderna del Juramento Hipocrático, establece principios éticos en la práctica médica, promoviendo la atención humanitaria y la defensa de los derechos de los pacientes.</a:t>
            </a:r>
            <a:endParaRPr sz="1500">
              <a:solidFill>
                <a:schemeClr val="dk1"/>
              </a:solidFill>
            </a:endParaRPr>
          </a:p>
          <a:p>
            <a:pPr indent="-309562" lvl="0" marL="457200" rtl="0" algn="l">
              <a:spcBef>
                <a:spcPts val="0"/>
              </a:spcBef>
              <a:spcAft>
                <a:spcPts val="0"/>
              </a:spcAft>
              <a:buClr>
                <a:schemeClr val="dk1"/>
              </a:buClr>
              <a:buSzPct val="100000"/>
              <a:buChar char="●"/>
            </a:pPr>
            <a:r>
              <a:rPr b="1" lang="es" sz="1500">
                <a:solidFill>
                  <a:schemeClr val="dk1"/>
                </a:solidFill>
              </a:rPr>
              <a:t>Declaración de Helsinki (1964)</a:t>
            </a:r>
            <a:r>
              <a:rPr lang="es" sz="1500">
                <a:solidFill>
                  <a:schemeClr val="dk1"/>
                </a:solidFill>
              </a:rPr>
              <a:t>: Establece principios éticos en la investigación médica.</a:t>
            </a:r>
            <a:endParaRPr sz="1500">
              <a:solidFill>
                <a:schemeClr val="dk1"/>
              </a:solidFill>
            </a:endParaRPr>
          </a:p>
          <a:p>
            <a:pPr indent="-309562" lvl="0" marL="457200" rtl="0" algn="l">
              <a:spcBef>
                <a:spcPts val="0"/>
              </a:spcBef>
              <a:spcAft>
                <a:spcPts val="0"/>
              </a:spcAft>
              <a:buClr>
                <a:schemeClr val="dk1"/>
              </a:buClr>
              <a:buSzPct val="100000"/>
              <a:buChar char="●"/>
            </a:pPr>
            <a:r>
              <a:rPr b="1" lang="es" sz="1500">
                <a:solidFill>
                  <a:schemeClr val="dk1"/>
                </a:solidFill>
              </a:rPr>
              <a:t>Informe Belmont (1979)</a:t>
            </a:r>
            <a:r>
              <a:rPr lang="es" sz="1500">
                <a:solidFill>
                  <a:schemeClr val="dk1"/>
                </a:solidFill>
              </a:rPr>
              <a:t>: Define principios de la bioética: </a:t>
            </a:r>
            <a:r>
              <a:rPr b="1" lang="es" sz="1500">
                <a:solidFill>
                  <a:schemeClr val="dk1"/>
                </a:solidFill>
              </a:rPr>
              <a:t>autonomía, beneficencia, no maleficencia y justicia</a:t>
            </a:r>
            <a:r>
              <a:rPr lang="es" sz="1500">
                <a:solidFill>
                  <a:schemeClr val="dk1"/>
                </a:solidFill>
              </a:rPr>
              <a:t>.</a:t>
            </a:r>
            <a:endParaRPr sz="1500">
              <a:solidFill>
                <a:schemeClr val="dk1"/>
              </a:solidFill>
            </a:endParaRPr>
          </a:p>
          <a:p>
            <a:pPr indent="-309562" lvl="0" marL="457200" rtl="0" algn="l">
              <a:spcBef>
                <a:spcPts val="0"/>
              </a:spcBef>
              <a:spcAft>
                <a:spcPts val="0"/>
              </a:spcAft>
              <a:buClr>
                <a:schemeClr val="dk1"/>
              </a:buClr>
              <a:buSzPct val="100000"/>
              <a:buChar char="●"/>
            </a:pPr>
            <a:r>
              <a:rPr b="1" lang="es" sz="1500">
                <a:solidFill>
                  <a:schemeClr val="dk1"/>
                </a:solidFill>
              </a:rPr>
              <a:t>Principios de la UNESCO sobre Bioética y Derechos Humanos (2005)</a:t>
            </a:r>
            <a:r>
              <a:rPr lang="es" sz="1500">
                <a:solidFill>
                  <a:schemeClr val="dk1"/>
                </a:solidFill>
              </a:rPr>
              <a:t>: Refuerza la importancia de la ética en biotecnología y genética.</a:t>
            </a:r>
            <a:endParaRPr b="1" sz="15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t>Reflexión sobre la Ética y los Principios Bioéticos</a:t>
            </a:r>
            <a:endParaRPr b="1"/>
          </a:p>
        </p:txBody>
      </p:sp>
      <p:sp>
        <p:nvSpPr>
          <p:cNvPr id="232" name="Google Shape;232;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25000" lnSpcReduction="20000"/>
          </a:bodyPr>
          <a:lstStyle/>
          <a:p>
            <a:pPr indent="0" lvl="0" marL="0" rtl="0" algn="l">
              <a:spcBef>
                <a:spcPts val="1200"/>
              </a:spcBef>
              <a:spcAft>
                <a:spcPts val="0"/>
              </a:spcAft>
              <a:buClr>
                <a:schemeClr val="dk1"/>
              </a:buClr>
              <a:buSzPts val="275"/>
              <a:buFont typeface="Arial"/>
              <a:buNone/>
            </a:pPr>
            <a:r>
              <a:rPr b="1" lang="es" sz="5600">
                <a:solidFill>
                  <a:schemeClr val="dk1"/>
                </a:solidFill>
              </a:rPr>
              <a:t>La Ética en la Ciencia y la Tecnología</a:t>
            </a:r>
            <a:endParaRPr b="1" sz="5600">
              <a:solidFill>
                <a:schemeClr val="dk1"/>
              </a:solidFill>
            </a:endParaRPr>
          </a:p>
          <a:p>
            <a:pPr indent="-317500" lvl="0" marL="457200" rtl="0" algn="l">
              <a:spcBef>
                <a:spcPts val="1200"/>
              </a:spcBef>
              <a:spcAft>
                <a:spcPts val="0"/>
              </a:spcAft>
              <a:buClr>
                <a:schemeClr val="dk1"/>
              </a:buClr>
              <a:buSzPct val="100000"/>
              <a:buChar char="●"/>
            </a:pPr>
            <a:r>
              <a:rPr lang="es" sz="5600">
                <a:solidFill>
                  <a:schemeClr val="dk1"/>
                </a:solidFill>
              </a:rPr>
              <a:t>La ética es fundamental para garantizar que el desarrollo científico y tecnológico </a:t>
            </a:r>
            <a:r>
              <a:rPr b="1" lang="es" sz="5600">
                <a:solidFill>
                  <a:schemeClr val="dk1"/>
                </a:solidFill>
              </a:rPr>
              <a:t>beneficie a la sociedad sin causar daño</a:t>
            </a:r>
            <a:r>
              <a:rPr lang="es" sz="5600">
                <a:solidFill>
                  <a:schemeClr val="dk1"/>
                </a:solidFill>
              </a:rPr>
              <a:t>.</a:t>
            </a:r>
            <a:endParaRPr sz="5600">
              <a:solidFill>
                <a:schemeClr val="dk1"/>
              </a:solidFill>
            </a:endParaRPr>
          </a:p>
          <a:p>
            <a:pPr indent="-317500" lvl="0" marL="457200" rtl="0" algn="l">
              <a:spcBef>
                <a:spcPts val="0"/>
              </a:spcBef>
              <a:spcAft>
                <a:spcPts val="0"/>
              </a:spcAft>
              <a:buClr>
                <a:schemeClr val="dk1"/>
              </a:buClr>
              <a:buSzPct val="100000"/>
              <a:buChar char="●"/>
            </a:pPr>
            <a:r>
              <a:rPr lang="es" sz="5600">
                <a:solidFill>
                  <a:schemeClr val="dk1"/>
                </a:solidFill>
              </a:rPr>
              <a:t>Los avances en ingeniería, biotecnología e inteligencia artificial requieren un </a:t>
            </a:r>
            <a:r>
              <a:rPr b="1" lang="es" sz="5600">
                <a:solidFill>
                  <a:schemeClr val="dk1"/>
                </a:solidFill>
              </a:rPr>
              <a:t>equilibrio entre innovación y responsabilidad</a:t>
            </a:r>
            <a:r>
              <a:rPr lang="es" sz="5600">
                <a:solidFill>
                  <a:schemeClr val="dk1"/>
                </a:solidFill>
              </a:rPr>
              <a:t>.</a:t>
            </a:r>
            <a:endParaRPr sz="5600">
              <a:solidFill>
                <a:schemeClr val="dk1"/>
              </a:solidFill>
            </a:endParaRPr>
          </a:p>
          <a:p>
            <a:pPr indent="0" lvl="0" marL="457200" rtl="0" algn="l">
              <a:spcBef>
                <a:spcPts val="1200"/>
              </a:spcBef>
              <a:spcAft>
                <a:spcPts val="0"/>
              </a:spcAft>
              <a:buNone/>
            </a:pPr>
            <a:r>
              <a:t/>
            </a:r>
            <a:endParaRPr sz="5600">
              <a:solidFill>
                <a:schemeClr val="dk1"/>
              </a:solidFill>
            </a:endParaRPr>
          </a:p>
          <a:p>
            <a:pPr indent="0" lvl="0" marL="0" rtl="0" algn="l">
              <a:spcBef>
                <a:spcPts val="1200"/>
              </a:spcBef>
              <a:spcAft>
                <a:spcPts val="0"/>
              </a:spcAft>
              <a:buNone/>
            </a:pPr>
            <a:r>
              <a:rPr b="1" lang="es" sz="5600">
                <a:solidFill>
                  <a:schemeClr val="dk1"/>
                </a:solidFill>
              </a:rPr>
              <a:t>¿Cómo aseguramos que la tecnología sea segura, justa y accesible?</a:t>
            </a:r>
            <a:endParaRPr b="1" sz="5600">
              <a:solidFill>
                <a:schemeClr val="dk1"/>
              </a:solidFill>
            </a:endParaRPr>
          </a:p>
          <a:p>
            <a:pPr indent="0" lvl="0" marL="0" rtl="0" algn="l">
              <a:spcBef>
                <a:spcPts val="1200"/>
              </a:spcBef>
              <a:spcAft>
                <a:spcPts val="0"/>
              </a:spcAft>
              <a:buClr>
                <a:schemeClr val="dk1"/>
              </a:buClr>
              <a:buSzPts val="275"/>
              <a:buFont typeface="Arial"/>
              <a:buNone/>
            </a:pPr>
            <a:r>
              <a:rPr b="1" lang="es" sz="5600">
                <a:solidFill>
                  <a:schemeClr val="dk1"/>
                </a:solidFill>
              </a:rPr>
              <a:t> Principios Bioéticos Fundamentales</a:t>
            </a:r>
            <a:endParaRPr b="1" sz="5600">
              <a:solidFill>
                <a:schemeClr val="dk1"/>
              </a:solidFill>
            </a:endParaRPr>
          </a:p>
          <a:p>
            <a:pPr indent="0" lvl="0" marL="0" rtl="0" algn="l">
              <a:spcBef>
                <a:spcPts val="1200"/>
              </a:spcBef>
              <a:spcAft>
                <a:spcPts val="0"/>
              </a:spcAft>
              <a:buClr>
                <a:schemeClr val="dk1"/>
              </a:buClr>
              <a:buSzPts val="275"/>
              <a:buFont typeface="Arial"/>
              <a:buNone/>
            </a:pPr>
            <a:r>
              <a:rPr lang="es" sz="5600">
                <a:solidFill>
                  <a:schemeClr val="dk1"/>
                </a:solidFill>
              </a:rPr>
              <a:t>✔ </a:t>
            </a:r>
            <a:r>
              <a:rPr b="1" lang="es" sz="5600">
                <a:solidFill>
                  <a:schemeClr val="dk1"/>
                </a:solidFill>
              </a:rPr>
              <a:t>Autonomía</a:t>
            </a:r>
            <a:r>
              <a:rPr lang="es" sz="5600">
                <a:solidFill>
                  <a:schemeClr val="dk1"/>
                </a:solidFill>
              </a:rPr>
              <a:t> – Respetar el derecho de las personas a tomar decisiones informadas.</a:t>
            </a:r>
            <a:br>
              <a:rPr lang="es" sz="5600">
                <a:solidFill>
                  <a:schemeClr val="dk1"/>
                </a:solidFill>
              </a:rPr>
            </a:br>
            <a:r>
              <a:rPr lang="es" sz="5600">
                <a:solidFill>
                  <a:schemeClr val="dk1"/>
                </a:solidFill>
              </a:rPr>
              <a:t>✔ </a:t>
            </a:r>
            <a:r>
              <a:rPr b="1" lang="es" sz="5600">
                <a:solidFill>
                  <a:schemeClr val="dk1"/>
                </a:solidFill>
              </a:rPr>
              <a:t>Beneficencia</a:t>
            </a:r>
            <a:r>
              <a:rPr lang="es" sz="5600">
                <a:solidFill>
                  <a:schemeClr val="dk1"/>
                </a:solidFill>
              </a:rPr>
              <a:t> – Buscar el bienestar y los beneficios para la sociedad.</a:t>
            </a:r>
            <a:br>
              <a:rPr lang="es" sz="5600">
                <a:solidFill>
                  <a:schemeClr val="dk1"/>
                </a:solidFill>
              </a:rPr>
            </a:br>
            <a:r>
              <a:rPr lang="es" sz="5600">
                <a:solidFill>
                  <a:schemeClr val="dk1"/>
                </a:solidFill>
              </a:rPr>
              <a:t>✔ </a:t>
            </a:r>
            <a:r>
              <a:rPr b="1" lang="es" sz="5600">
                <a:solidFill>
                  <a:schemeClr val="dk1"/>
                </a:solidFill>
              </a:rPr>
              <a:t>No maleficencia</a:t>
            </a:r>
            <a:r>
              <a:rPr lang="es" sz="5600">
                <a:solidFill>
                  <a:schemeClr val="dk1"/>
                </a:solidFill>
              </a:rPr>
              <a:t> – Evitar causar daño o poner en riesgo la seguridad.</a:t>
            </a:r>
            <a:br>
              <a:rPr lang="es" sz="5600">
                <a:solidFill>
                  <a:schemeClr val="dk1"/>
                </a:solidFill>
              </a:rPr>
            </a:br>
            <a:r>
              <a:rPr lang="es" sz="5600">
                <a:solidFill>
                  <a:schemeClr val="dk1"/>
                </a:solidFill>
              </a:rPr>
              <a:t>✔ </a:t>
            </a:r>
            <a:r>
              <a:rPr b="1" lang="es" sz="5600">
                <a:solidFill>
                  <a:schemeClr val="dk1"/>
                </a:solidFill>
              </a:rPr>
              <a:t>Justicia</a:t>
            </a:r>
            <a:r>
              <a:rPr lang="es" sz="5600">
                <a:solidFill>
                  <a:schemeClr val="dk1"/>
                </a:solidFill>
              </a:rPr>
              <a:t> – Garantizar equidad en el acceso a tecnología y recursos.</a:t>
            </a:r>
            <a:endParaRPr sz="56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pic>
        <p:nvPicPr>
          <p:cNvPr id="237" name="Google Shape;237;p43"/>
          <p:cNvPicPr preferRelativeResize="0"/>
          <p:nvPr/>
        </p:nvPicPr>
        <p:blipFill>
          <a:blip r:embed="rId3">
            <a:alphaModFix/>
          </a:blip>
          <a:stretch>
            <a:fillRect/>
          </a:stretch>
        </p:blipFill>
        <p:spPr>
          <a:xfrm>
            <a:off x="2000250" y="0"/>
            <a:ext cx="5143500" cy="514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